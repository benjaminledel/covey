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0" y="32918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INVESTOREN-DECK</a:t>
            </a:r>
            <a:endParaRPr lang="en-US" sz="1000" dirty="0"/>
          </a:p>
        </p:txBody>
      </p:sp>
      <p:pic>
        <p:nvPicPr>
          <p:cNvPr id="5" name="Image 0" descr="/mnt/user-data/outputs/deckshots/r/roste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54480"/>
            <a:ext cx="5577840" cy="3625596"/>
          </a:xfrm>
          <a:prstGeom prst="rect">
            <a:avLst/>
          </a:prstGeom>
          <a:effectLst>
            <a:outerShdw sx="100000" sy="100000" kx="0" ky="0" algn="bl" rotWithShape="0" blurRad="165100" dist="635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141732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Steuerungs-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ebene für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KI-Agenten.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 macht KI-Agenten unternehmenstauglich — Identität, Zugänge, Aufsicht und Governance. Self-hosted.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5532120"/>
            <a:ext cx="137160" cy="137160"/>
          </a:xfrm>
          <a:prstGeom prst="ellipse">
            <a:avLst/>
          </a:prstGeom>
          <a:solidFill>
            <a:srgbClr val="9C978B"/>
          </a:solidFill>
          <a:ln/>
        </p:spPr>
      </p:sp>
      <p:sp>
        <p:nvSpPr>
          <p:cNvPr id="9" name="Shape 6"/>
          <p:cNvSpPr/>
          <p:nvPr/>
        </p:nvSpPr>
        <p:spPr>
          <a:xfrm>
            <a:off x="877824" y="5532120"/>
            <a:ext cx="137160" cy="137160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0" name="Shape 7"/>
          <p:cNvSpPr/>
          <p:nvPr/>
        </p:nvSpPr>
        <p:spPr>
          <a:xfrm>
            <a:off x="1188720" y="5532120"/>
            <a:ext cx="137160" cy="137160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1" name="Shape 8"/>
          <p:cNvSpPr/>
          <p:nvPr/>
        </p:nvSpPr>
        <p:spPr>
          <a:xfrm>
            <a:off x="1499616" y="5532120"/>
            <a:ext cx="137160" cy="137160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12" name="Shape 9"/>
          <p:cNvSpPr/>
          <p:nvPr/>
        </p:nvSpPr>
        <p:spPr>
          <a:xfrm>
            <a:off x="1810512" y="5532120"/>
            <a:ext cx="137160" cy="137160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Seed-Runde · [Monat 2026] · Digital Learning GmbH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0" y="32918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JETZT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KI-Agenten gehen von Demos zu echter Arbeit.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474720" cy="3154680"/>
          </a:xfrm>
          <a:prstGeom prst="roundRect">
            <a:avLst>
              <a:gd name="adj" fmla="val 3188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 handeln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Chat-Demos werden Agenten, die Tickets lösen, Systeme bedienen und Aufgaben abschließen.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3474720" cy="3154680"/>
          </a:xfrm>
          <a:prstGeom prst="roundRect">
            <a:avLst>
              <a:gd name="adj" fmla="val 3188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 adoptieren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32918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Organisation pilotiert 2026 Agenten — aber ad hoc, ohne Kontrolle darüber.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828800"/>
            <a:ext cx="3474720" cy="3154680"/>
          </a:xfrm>
          <a:prstGeom prst="roundRect">
            <a:avLst>
              <a:gd name="adj" fmla="val 3188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2148840"/>
            <a:ext cx="457200" cy="457200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248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wird Pflicht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32918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und Datenschutz zwingen zu Nachvollziehbarkeit, Zugriffskontrolle und Aufsicht.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C7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Zeitfenster: Die Agenten sind da — die Ebene, die sie steuert, fehlt noch.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0" y="32918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Jeder Agent ist ein Mitarbeiter</a:t>
            </a:r>
            <a:endParaRPr lang="en-US" sz="3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ohne Personalabteilung.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223543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3419856"/>
            <a:ext cx="146304" cy="146304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310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Identität &amp; Zugänge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97280" y="371246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geteilte Keys, niemand weiß, wer worauf darf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310896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22354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64808" y="3419856"/>
            <a:ext cx="146304" cy="146304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3310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Aufsicht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20840" y="371246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Stopp-Knopf, keine Freigabe, kein Audit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223543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4837176"/>
            <a:ext cx="146304" cy="146304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727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Org-Fit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97280" y="512978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Rollen, Teams, Kostenstellen, Compliance fehlen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52628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22354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4808" y="4837176"/>
            <a:ext cx="146304" cy="146304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727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Blockierte Adoption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720840" y="512978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Kontrolle kein Enterprise-Rollout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0" y="32918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 Steuerzentrale für die ganze Belegschaft.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Agenten auf einen Blick — Zustand, Aufgabe, Kosten. Von hier wird die Organisation geführt: anlegen, zuweisen, stoppen. Die Organisation ist die Einheit, nicht der einzelne Nutzer.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593592"/>
            <a:ext cx="128016" cy="128016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8386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Steuern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Scheduler, Kill-Switch.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279392"/>
            <a:ext cx="128016" cy="128016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6966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Absichern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 Guard-Rails, fail-closed.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128016" cy="128016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5546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Nachvollziehen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Aufzeichnung, Freigaben, Kosten.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650992"/>
            <a:ext cx="128016" cy="128016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54126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Erinnern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einsehbarer Wissensgraph, DSGVO.</a:t>
            </a:r>
            <a:endParaRPr lang="en-US" sz="1350" dirty="0"/>
          </a:p>
        </p:txBody>
      </p:sp>
      <p:pic>
        <p:nvPicPr>
          <p:cNvPr id="16" name="Image 0" descr="/mnt/user-data/outputs/deckshots/r/r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37360"/>
            <a:ext cx="5806440" cy="3774186"/>
          </a:xfrm>
          <a:prstGeom prst="rect">
            <a:avLst/>
          </a:prstGeom>
          <a:effectLst>
            <a:outerShdw sx="100000" sy="100000" kx="0" ky="0" algn="bl" rotWithShape="0" blurRad="165100" dist="635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0" y="32918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Sehen, was passiert. Steuern, was erlaubt ist.</a:t>
            </a:r>
            <a:endParaRPr lang="en-US" sz="2900" dirty="0"/>
          </a:p>
        </p:txBody>
      </p:sp>
      <p:pic>
        <p:nvPicPr>
          <p:cNvPr id="7" name="Image 0" descr="/mnt/user-data/outputs/deckshots/r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40680" cy="3536442"/>
          </a:xfrm>
          <a:prstGeom prst="rect">
            <a:avLst/>
          </a:prstGeom>
          <a:effectLst>
            <a:outerShdw sx="100000" sy="100000" kx="0" ky="0" algn="bl" rotWithShape="0" blurRad="165100" dist="63500" dir="5400000">
              <a:srgbClr val="000000">
                <a:alpha val="18000"/>
              </a:srgbClr>
            </a:outerShdw>
          </a:effectLst>
        </p:spPr>
      </p:pic>
      <p:pic>
        <p:nvPicPr>
          <p:cNvPr id="8" name="Image 1" descr="/mnt/user-data/outputs/deckshots/r/gu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83080"/>
            <a:ext cx="5440680" cy="3536442"/>
          </a:xfrm>
          <a:prstGeom prst="rect">
            <a:avLst/>
          </a:prstGeom>
          <a:effectLst>
            <a:outerShdw sx="100000" sy="100000" kx="0" ky="0" algn="bl" rotWithShape="0" blurRad="165100" dist="63500" dir="5400000">
              <a:srgbClr val="000000">
                <a:alpha val="18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566928" y="5440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Live-Aufsicht</a:t>
            </a:r>
            <a:pPr indent="0" marL="0"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jeder Schritt, jede Freigabe, jede Kostenposition.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190488" y="5440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Guard-Rails</a:t>
            </a:r>
            <a:pPr indent="0" marL="0"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generische Policy-Engine, plattformweit erzwungen.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7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Funktionsfähiger Prototyp · vollständige Spezifikation · MVP-Durchstich mit Zammad × Claude Code · einsehbares Gedächtnis (DSGVO) · Go + Postgres, self-hostbar.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0" y="32918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WIR GEWINNEN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Graben: Souveränität + Organisationstiefe.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554480"/>
          </a:xfrm>
          <a:prstGeom prst="roundRect">
            <a:avLst>
              <a:gd name="adj" fmla="val 6471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139696"/>
            <a:ext cx="146304" cy="146304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29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&amp; datensouverän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97280" y="245059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auf eigener Infrastruktur — der Enterprise- und EU-Kaufgrund, den SaaS-Player nicht bedienen.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554480"/>
          </a:xfrm>
          <a:prstGeom prst="roundRect">
            <a:avLst>
              <a:gd name="adj" fmla="val 6471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83096" y="2139696"/>
            <a:ext cx="146304" cy="146304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2029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als Einheit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20840" y="245059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Rollen, Teams, Org-Chart, Kostenstellen — kein weiteres Single-User-Agenten-Tool.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5349240" cy="1554480"/>
          </a:xfrm>
          <a:prstGeom prst="roundRect">
            <a:avLst>
              <a:gd name="adj" fmla="val 6471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922776"/>
            <a:ext cx="146304" cy="146304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8130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Governance-Tiefe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97280" y="42336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Generische Guard-Rails, Freigaben, einsehbares Gedächtnis — Compliance ist eingebaut.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349240" cy="1554480"/>
          </a:xfrm>
          <a:prstGeom prst="roundRect">
            <a:avLst>
              <a:gd name="adj" fmla="val 6471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3096" y="3922776"/>
            <a:ext cx="146304" cy="146304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8130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Integrations-nah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720840" y="42336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Zielsysteme wie Zammad nativ — Wert am Tag 1, nicht nach Monaten Integration.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0" y="32918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Große Welle, konkrete Ebene.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852160" cy="1115568"/>
          </a:xfrm>
          <a:prstGeom prst="roundRect">
            <a:avLst>
              <a:gd name="adj" fmla="val 8197"/>
            </a:avLst>
          </a:prstGeom>
          <a:solidFill>
            <a:srgbClr val="F6F4EE"/>
          </a:solidFill>
          <a:ln w="13970">
            <a:solidFill>
              <a:srgbClr val="2C6E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0025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C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225856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€ 48 Mrd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12280" y="2020824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KI-Agenten-Markt weltweit, 2030 · CAGR ~45 %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280160" y="3172968"/>
            <a:ext cx="4572000" cy="1115568"/>
          </a:xfrm>
          <a:prstGeom prst="roundRect">
            <a:avLst>
              <a:gd name="adj" fmla="val 8197"/>
            </a:avLst>
          </a:prstGeom>
          <a:solidFill>
            <a:srgbClr val="F6F4EE"/>
          </a:solidFill>
          <a:ln w="13970">
            <a:solidFill>
              <a:srgbClr val="6A5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2768" y="33009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A5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36192" y="355701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€ 3,5 Mrd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331927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Orchestrierung · self-hosted · EU &amp; regulierte Branchen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920240" y="4471416"/>
            <a:ext cx="3291840" cy="1115568"/>
          </a:xfrm>
          <a:prstGeom prst="roundRect">
            <a:avLst>
              <a:gd name="adj" fmla="val 8197"/>
            </a:avLst>
          </a:prstGeom>
          <a:solidFill>
            <a:srgbClr val="F6F4EE"/>
          </a:solidFill>
          <a:ln w="13970">
            <a:solidFill>
              <a:srgbClr val="4E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12848" y="4599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E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76272" y="485546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€ 10 Mio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32120" y="46177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erreichbarer ARR in 3 Jahren · Beachhead EU/DACH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bottom-up: ~400 Zielorganisationen × ~€25 k Jahreswert.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10819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MarketsandMarkets / Grand View / BCC 2025 (~48–53 Mrd $ bis 2030). SAM &amp; SOM: eigene Herleitung.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0" y="32918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GESCHÄFTSMODELL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Open-Core. Verkauft pro Agent.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1929384"/>
            <a:ext cx="146304" cy="146304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474720" y="181051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Open-Core: freie Community-Edition, kostenpflichtige Enterprise-Edition (SSO, Guard-Rails, Support, SLAs).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26664"/>
            <a:ext cx="146304" cy="146304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077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474720" y="290779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 pro aktivem Agent / Sitz, gestaffelt — plus Enterprise-Lizenz für self-hosted Deployments.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146304" cy="146304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05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&amp; Expand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474720" y="400507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bei einem Team, Ausweitung auf die ganze Organisation, wenn die Belegschaft wächst.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21224"/>
            <a:ext cx="146304" cy="146304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102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es zieht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474720" y="51023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trifft Budget-Verantwortliche in regulierten und EU-Märkten, die SaaS nicht kaufen dürfen.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0" y="32918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WETTBEWERB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Niemand besetzt die souveräne Governance-Ecke.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3657600" y="1965960"/>
            <a:ext cx="7315200" cy="3794760"/>
          </a:xfrm>
          <a:prstGeom prst="rect">
            <a:avLst/>
          </a:prstGeom>
          <a:solidFill>
            <a:srgbClr val="F6F4EE"/>
          </a:solidFill>
          <a:ln w="12700">
            <a:solidFill>
              <a:srgbClr val="E3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3863340"/>
            <a:ext cx="7315200" cy="0"/>
          </a:xfrm>
          <a:prstGeom prst="line">
            <a:avLst/>
          </a:prstGeom>
          <a:noFill/>
          <a:ln w="12700">
            <a:solidFill>
              <a:srgbClr val="E3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1965960"/>
            <a:ext cx="0" cy="3794760"/>
          </a:xfrm>
          <a:prstGeom prst="line">
            <a:avLst/>
          </a:prstGeom>
          <a:noFill/>
          <a:ln w="12700">
            <a:solidFill>
              <a:srgbClr val="E3E0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2057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Organisations-</a:t>
            </a:r>
            <a:endParaRPr lang="en-US" sz="11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5303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5870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Cloud-gebunden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5870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/ souverän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4617720"/>
            <a:ext cx="146304" cy="146304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5" name="Text 13"/>
          <p:cNvSpPr/>
          <p:nvPr/>
        </p:nvSpPr>
        <p:spPr>
          <a:xfrm>
            <a:off x="4361688" y="4489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AgentCore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60520" y="5120640"/>
            <a:ext cx="146304" cy="146304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7" name="Text 15"/>
          <p:cNvSpPr/>
          <p:nvPr/>
        </p:nvSpPr>
        <p:spPr>
          <a:xfrm>
            <a:off x="4361688" y="49926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Agent 365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60520" y="2560320"/>
            <a:ext cx="146304" cy="146304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19" name="Text 17"/>
          <p:cNvSpPr/>
          <p:nvPr/>
        </p:nvSpPr>
        <p:spPr>
          <a:xfrm>
            <a:off x="4361688" y="24323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60520" y="3063240"/>
            <a:ext cx="146304" cy="146304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21" name="Text 19"/>
          <p:cNvSpPr/>
          <p:nvPr/>
        </p:nvSpPr>
        <p:spPr>
          <a:xfrm>
            <a:off x="4361688" y="2935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AI-Workforce-SaaS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818120" y="4617720"/>
            <a:ext cx="146304" cy="146304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23" name="Text 21"/>
          <p:cNvSpPr/>
          <p:nvPr/>
        </p:nvSpPr>
        <p:spPr>
          <a:xfrm>
            <a:off x="8019288" y="4489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18120" y="5120640"/>
            <a:ext cx="146304" cy="146304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25" name="Text 23"/>
          <p:cNvSpPr/>
          <p:nvPr/>
        </p:nvSpPr>
        <p:spPr>
          <a:xfrm>
            <a:off x="8019288" y="49926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2651760"/>
            <a:ext cx="1737360" cy="621792"/>
          </a:xfrm>
          <a:prstGeom prst="roundRect">
            <a:avLst>
              <a:gd name="adj" fmla="val 50000"/>
            </a:avLst>
          </a:prstGeom>
          <a:solidFill>
            <a:srgbClr val="CC7A5B"/>
          </a:solidFill>
          <a:ln/>
        </p:spPr>
      </p:sp>
      <p:sp>
        <p:nvSpPr>
          <p:cNvPr id="27" name="Text 25"/>
          <p:cNvSpPr/>
          <p:nvPr/>
        </p:nvSpPr>
        <p:spPr>
          <a:xfrm>
            <a:off x="8138160" y="26517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0" y="32918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Beachhead: EU-Mittelstand mit Helpdesk.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474720" cy="3108960"/>
          </a:xfrm>
          <a:prstGeom prst="roundRect">
            <a:avLst>
              <a:gd name="adj" fmla="val 3235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21408"/>
            <a:ext cx="146304" cy="146304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Beachhead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DACH/EU-Organisationen mit Zammad &amp; ähnlichen Zielsystemen — sofortiger Nutzen, klarer Kaufgrund.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474720" cy="3108960"/>
          </a:xfrm>
          <a:prstGeom prst="roundRect">
            <a:avLst>
              <a:gd name="adj" fmla="val 3235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121408"/>
            <a:ext cx="146304" cy="146304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Netzwerk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9260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 über die seven-education / Sdui-Gruppe: bestehende Kundenbasis und Vertriebskanäle.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474720" cy="3108960"/>
          </a:xfrm>
          <a:prstGeom prst="roundRect">
            <a:avLst>
              <a:gd name="adj" fmla="val 3235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121408"/>
            <a:ext cx="146304" cy="146304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Expansion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9260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ersten Support-Agenten zur ganzen Belegschaft; weitere Zielsysteme über dasselbe Broker-Modell.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7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Bottom-up-Einstieg (ein Team), Top-down-Ausbau (Org-weite Governance).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0" y="32918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 wir stehen — und wohin.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E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5257800" cy="914400"/>
          </a:xfrm>
          <a:prstGeom prst="roundRect">
            <a:avLst>
              <a:gd name="adj" fmla="val 11000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478024"/>
            <a:ext cx="256032" cy="256032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22951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25880" y="2624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gesamte Oberfläche funktionsfähig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5257800" cy="914400"/>
          </a:xfrm>
          <a:prstGeom prst="roundRect">
            <a:avLst>
              <a:gd name="adj" fmla="val 11000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29584"/>
            <a:ext cx="256032" cy="256032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33467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Spezifikation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25880" y="36758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Kapitel, Architektur bis MVP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251960"/>
            <a:ext cx="5257800" cy="914400"/>
          </a:xfrm>
          <a:prstGeom prst="roundRect">
            <a:avLst>
              <a:gd name="adj" fmla="val 11000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581144"/>
            <a:ext cx="256032" cy="256032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562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43982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MVP-Durchstich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25880" y="47274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Zammad × Claude Code, End-to-End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NÄCHSTE 12 MONATE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2148840"/>
            <a:ext cx="5257800" cy="914400"/>
          </a:xfrm>
          <a:prstGeom prst="roundRect">
            <a:avLst>
              <a:gd name="adj" fmla="val 11000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2951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2624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Design-Partner im Betrieb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332720" y="245059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FEDE4"/>
          </a:solidFill>
          <a:ln/>
        </p:spPr>
      </p:sp>
      <p:sp>
        <p:nvSpPr>
          <p:cNvPr id="28" name="Text 26"/>
          <p:cNvSpPr/>
          <p:nvPr/>
        </p:nvSpPr>
        <p:spPr>
          <a:xfrm>
            <a:off x="10332720" y="24505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200400"/>
            <a:ext cx="5257800" cy="914400"/>
          </a:xfrm>
          <a:prstGeom prst="roundRect">
            <a:avLst>
              <a:gd name="adj" fmla="val 11000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3467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5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3675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bei 10 Organisationen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332720" y="350215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FEDE4"/>
          </a:solidFill>
          <a:ln/>
        </p:spPr>
      </p:sp>
      <p:sp>
        <p:nvSpPr>
          <p:cNvPr id="33" name="Text 31"/>
          <p:cNvSpPr/>
          <p:nvPr/>
        </p:nvSpPr>
        <p:spPr>
          <a:xfrm>
            <a:off x="10332720" y="35021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4251960"/>
            <a:ext cx="5257800" cy="914400"/>
          </a:xfrm>
          <a:prstGeom prst="roundRect">
            <a:avLst>
              <a:gd name="adj" fmla="val 11000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43982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7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Monate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37960" y="4727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€ 0,25 Mio ARR · 10 zahlende Orgs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332720" y="455371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FEDE4"/>
          </a:solidFill>
          <a:ln/>
        </p:spPr>
      </p:sp>
      <p:sp>
        <p:nvSpPr>
          <p:cNvPr id="38" name="Text 36"/>
          <p:cNvSpPr/>
          <p:nvPr/>
        </p:nvSpPr>
        <p:spPr>
          <a:xfrm>
            <a:off x="10332720" y="45537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" y="5623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Forward-Zahlen sind Ziele, kein Ist-Stand.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0" y="32918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Gebaut von Leuten, die Infrastruktur betreiben.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821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94560"/>
            <a:ext cx="868680" cy="868680"/>
          </a:xfrm>
          <a:prstGeom prst="ellipse">
            <a:avLst/>
          </a:prstGeom>
          <a:solidFill>
            <a:srgbClr val="14202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6596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65960" y="2670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· Technik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Technischer Generalist: Infrastruktur (Docker, Proxmox, Keycloak/OAuth), Plattform- und Produktentwicklung, LLM-/MCP-Integration. Baut und betreibt Systeme im Produktivbetrieb.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532120" cy="3566160"/>
          </a:xfrm>
          <a:prstGeom prst="roundRect">
            <a:avLst>
              <a:gd name="adj" fmla="val 2821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stellen ein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2788920"/>
            <a:ext cx="137160" cy="137160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6700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/ GTM  </a:t>
            </a:r>
            <a:pPr indent="0" marL="0"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Vertrieb &amp; Wachstum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92240" y="3538728"/>
            <a:ext cx="137160" cy="137160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4198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 </a:t>
            </a:r>
            <a:pPr indent="0" marL="0"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Plattform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92240" y="4288536"/>
            <a:ext cx="137160" cy="137160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41696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 </a:t>
            </a:r>
            <a:pPr indent="0" marL="0"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4892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Rückenwind aus der seven-education / Sdui-Gruppe: etablierte EdTech-Basis, Kunden und Kanäle.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0" y="32918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 raisen € 1,5 Mio als Seed.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66928" y="2240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Monate Runway bis zur Series-A-Reife (~€ 0,5–1 Mio ARR).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474720" cy="2057400"/>
          </a:xfrm>
          <a:prstGeom prst="roundRect">
            <a:avLst>
              <a:gd name="adj" fmla="val 4889"/>
            </a:avLst>
          </a:prstGeom>
          <a:solidFill>
            <a:srgbClr val="223543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3337560"/>
            <a:ext cx="146304" cy="146304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566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55 %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59536" y="4187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 &amp; Engineering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59536" y="45537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 härten, Zielsysteme, Skalierung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3063240"/>
            <a:ext cx="3474720" cy="2057400"/>
          </a:xfrm>
          <a:prstGeom prst="roundRect">
            <a:avLst>
              <a:gd name="adj" fmla="val 4889"/>
            </a:avLst>
          </a:prstGeom>
          <a:solidFill>
            <a:srgbClr val="223543"/>
          </a:solidFill>
          <a:ln/>
        </p:spPr>
      </p:sp>
      <p:sp>
        <p:nvSpPr>
          <p:cNvPr id="14" name="Shape 12"/>
          <p:cNvSpPr/>
          <p:nvPr/>
        </p:nvSpPr>
        <p:spPr>
          <a:xfrm>
            <a:off x="4608576" y="3337560"/>
            <a:ext cx="146304" cy="146304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5" name="Text 13"/>
          <p:cNvSpPr/>
          <p:nvPr/>
        </p:nvSpPr>
        <p:spPr>
          <a:xfrm>
            <a:off x="4590288" y="3566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08576" y="4187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608576" y="45537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Vertriebs- &amp; Partner-Motion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3063240"/>
            <a:ext cx="3474720" cy="2057400"/>
          </a:xfrm>
          <a:prstGeom prst="roundRect">
            <a:avLst>
              <a:gd name="adj" fmla="val 4889"/>
            </a:avLst>
          </a:prstGeom>
          <a:solidFill>
            <a:srgbClr val="223543"/>
          </a:solidFill>
          <a:ln/>
        </p:spPr>
      </p:sp>
      <p:sp>
        <p:nvSpPr>
          <p:cNvPr id="19" name="Shape 17"/>
          <p:cNvSpPr/>
          <p:nvPr/>
        </p:nvSpPr>
        <p:spPr>
          <a:xfrm>
            <a:off x="8357616" y="3337560"/>
            <a:ext cx="146304" cy="146304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20" name="Text 18"/>
          <p:cNvSpPr/>
          <p:nvPr/>
        </p:nvSpPr>
        <p:spPr>
          <a:xfrm>
            <a:off x="8339328" y="3566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57616" y="4187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57616" y="45537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/ SOC 2, Zertifizierungen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Illustrativer Vorschlag — Betrag und Aufteilung final festlegen.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einem Agenten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 einer Belegschaft.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3886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 — die Steuerungsebene für KI-Agenten.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4480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[name@covey.dev]  ·  [covey.dev]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5257800"/>
            <a:ext cx="137160" cy="137160"/>
          </a:xfrm>
          <a:prstGeom prst="ellipse">
            <a:avLst/>
          </a:prstGeom>
          <a:solidFill>
            <a:srgbClr val="9C978B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5257800"/>
            <a:ext cx="137160" cy="137160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5257800"/>
            <a:ext cx="137160" cy="137160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0" name="Shape 8"/>
          <p:cNvSpPr/>
          <p:nvPr/>
        </p:nvSpPr>
        <p:spPr>
          <a:xfrm>
            <a:off x="1499616" y="5257800"/>
            <a:ext cx="137160" cy="137160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11" name="Shape 9"/>
          <p:cNvSpPr/>
          <p:nvPr/>
        </p:nvSpPr>
        <p:spPr>
          <a:xfrm>
            <a:off x="1810512" y="5257800"/>
            <a:ext cx="137160" cy="137160"/>
          </a:xfrm>
          <a:prstGeom prst="ellipse">
            <a:avLst/>
          </a:prstGeom>
          <a:solidFill>
            <a:srgbClr val="4E8A2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2026-07-15T20:39:17Z</dcterms:created>
  <dcterms:modified xsi:type="dcterms:W3CDTF">2026-07-15T20:39:17Z</dcterms:modified>
</cp:coreProperties>
</file>