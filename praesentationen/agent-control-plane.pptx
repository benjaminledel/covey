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Arbeitstitel-Slide. Codename kann Benni frei einsetzen (z. B. wie Fiely/StuPla). Kernbotschaft: nicht noch ein Agent-Framework, sondern die Schicht, die aus Agenten eine Organisation macht.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Lücke ist nicht die Runtime — die gibt's. Es fehlt die Schicht drumherum, die aus einzelnen Agenten eine Organisation macht, der man vertrauen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als Bauplan: Wenn man die Plattform entlang der Unternehmensstruktur schneidet, fällt die Architektur natürlich — und man kann überall Prior Art übernehmen.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ist austauschbar: In der Sandbox läuft ein schlanker Daemon mit einheitlichem Protokoll (start/stop, Task rein, Events raus, Config + Credentials injizieren). Das Framework darunter ist Commodity.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Dispatch-Loop pro Agent ist billig (kein LLM). Ein kleines Modell entscheidet beim Tick 'gibt's was zu tun?' bevor Opus anläuft. blocked/waiting ist der Zustand, den fast alle vergessen — und der aus dem Agenten einen Angestellten macht.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Offene Kernfrage der Architektur: Event-Korrelation. Wie wird die eingehende Mail / das Ticket-Update zuverlässig auf die geparkte Aufgabe gemappt (reply-to mit Task-ID vs. zentraler Event-Router)? Das entscheidet, wie 'echt' E-Mail-als-Bus trägt.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Scheduler/Dispatcher, der weiß wer schläft, wer blockiert ist, was in wessen Backlog liegt und wer als Nächstes drankommt — das ist das eigentliche Produkt. Ein OS-Scheduler + cron + Inbox + Zustandsverwaltung für Agenten.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Beide Bausteine liegen schon im Haus (Keycloak/Token-Exchange aus Girona, Graphiti). Das ist die Verteidigungslinie: die schwierigen Teile sind nicht generisch, sondern genau da, wo Digital Learning schon tief drinsteckt.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Timing-Argument: die Bausteine (Runtimes) sind Commodity geworden. Der Wert wandert eine Ebene höher — genau dahin, wo diese Plattform sitzt.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mit dem One-Liner und dem konkreten nächsten Arbeitsschritt (Event-Korrelation), damit der Pitch in eine Aktion mündet statt in eine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3" name="Shape 1"/>
          <p:cNvSpPr/>
          <p:nvPr/>
        </p:nvSpPr>
        <p:spPr>
          <a:xfrm>
            <a:off x="7868412" y="1741932"/>
            <a:ext cx="2734056" cy="2734056"/>
          </a:xfrm>
          <a:prstGeom prst="ellipse">
            <a:avLst/>
          </a:prstGeom>
          <a:solidFill>
            <a:srgbClr val="F43175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1741932"/>
            <a:ext cx="1997964" cy="1997964"/>
          </a:xfrm>
          <a:prstGeom prst="ellipse">
            <a:avLst/>
          </a:prstGeom>
          <a:solidFill>
            <a:srgbClr val="FF8C42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08642" y="3161538"/>
            <a:ext cx="1472184" cy="1472184"/>
          </a:xfrm>
          <a:prstGeom prst="ellipse">
            <a:avLst/>
          </a:prstGeom>
          <a:solidFill>
            <a:srgbClr val="21C2A2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78724" y="3424428"/>
            <a:ext cx="1156716" cy="1156716"/>
          </a:xfrm>
          <a:prstGeom prst="ellipse">
            <a:avLst/>
          </a:prstGeom>
          <a:solidFill>
            <a:srgbClr val="FFD313">
              <a:alpha val="7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73568" y="2057400"/>
            <a:ext cx="946404" cy="946404"/>
          </a:xfrm>
          <a:prstGeom prst="ellipse">
            <a:avLst/>
          </a:prstGeom>
          <a:solidFill>
            <a:srgbClr val="63E8F2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82862" y="3792474"/>
            <a:ext cx="841248" cy="841248"/>
          </a:xfrm>
          <a:prstGeom prst="ellipse">
            <a:avLst/>
          </a:prstGeom>
          <a:solidFill>
            <a:srgbClr val="072AC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3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ARBEITSTITEL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23774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Die Control Plane
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für KI-Agenten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zentrale Plattform, die KI-Agenten wie Mitarbeiter behandelt — mit Identität, Arbeitsplatz, Zugängen, Backlog und Vorgesetztem.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C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OpenHands · Harness · Claude Code — orchestriert an einem Ort.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3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Jeder Agent ist eine Insel.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heute ernsthaft Agenten einsetzt, klebt sich alles selbst zusammen — ohne zentralen Überblick, Audit oder Kostenkontrolle.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487854" cy="301752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227832"/>
            <a:ext cx="640080" cy="640080"/>
          </a:xfrm>
          <a:prstGeom prst="ellipse">
            <a:avLst/>
          </a:prstGeom>
          <a:solidFill>
            <a:srgbClr val="F431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114800"/>
            <a:ext cx="18477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Werkzeug-Wildwuchs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84632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hier, OpenHands da, ein Harness dort — jedes mit eigener Config.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47974" y="2880360"/>
            <a:ext cx="2487854" cy="301752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68014" y="3227832"/>
            <a:ext cx="640080" cy="64008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4" name="Text 12"/>
          <p:cNvSpPr/>
          <p:nvPr/>
        </p:nvSpPr>
        <p:spPr>
          <a:xfrm>
            <a:off x="3768014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68014" y="4114800"/>
            <a:ext cx="18477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Secrets im Klartext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68014" y="484632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Zugangsdaten in Umgebungsvariablen, fest in die Runtime gebacken.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5868" y="2880360"/>
            <a:ext cx="2487854" cy="301752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5908" y="3227832"/>
            <a:ext cx="640080" cy="640080"/>
          </a:xfrm>
          <a:prstGeom prst="ellipse">
            <a:avLst/>
          </a:prstGeom>
          <a:solidFill>
            <a:srgbClr val="21C2A2"/>
          </a:solidFill>
          <a:ln/>
        </p:spPr>
      </p:sp>
      <p:sp>
        <p:nvSpPr>
          <p:cNvPr id="19" name="Text 17"/>
          <p:cNvSpPr/>
          <p:nvPr/>
        </p:nvSpPr>
        <p:spPr>
          <a:xfrm>
            <a:off x="6575908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75908" y="4114800"/>
            <a:ext cx="18477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Kein Überblick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5908" y="484632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sieht zentral, was welcher Agent gerade tut oder getan hat.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63761" y="2880360"/>
            <a:ext cx="2487854" cy="301752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83801" y="3227832"/>
            <a:ext cx="640080" cy="640080"/>
          </a:xfrm>
          <a:prstGeom prst="ellipse">
            <a:avLst/>
          </a:prstGeom>
          <a:solidFill>
            <a:srgbClr val="072AC8"/>
          </a:solidFill>
          <a:ln/>
        </p:spPr>
      </p:sp>
      <p:sp>
        <p:nvSpPr>
          <p:cNvPr id="24" name="Text 22"/>
          <p:cNvSpPr/>
          <p:nvPr/>
        </p:nvSpPr>
        <p:spPr>
          <a:xfrm>
            <a:off x="9383801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83801" y="4114800"/>
            <a:ext cx="18477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Kein Vertrauen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83801" y="484632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Audit, keine Freigaben, kein Kill-Switch, keine Kostenkontrolle.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1C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Die IT- und HR-Abteilung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1C2A2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für KI-Agenten.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jede Komponente hat ein Gegenstück im echten Unternehmen. Das ist der Bauplan — und die Abkürzung: überall bewährte Muster.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43000" y="5029200"/>
            <a:ext cx="1188720" cy="1188720"/>
          </a:xfrm>
          <a:prstGeom prst="ellipse">
            <a:avLst/>
          </a:prstGeom>
          <a:solidFill>
            <a:srgbClr val="F43175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5029200"/>
            <a:ext cx="868680" cy="868680"/>
          </a:xfrm>
          <a:prstGeom prst="ellipse">
            <a:avLst/>
          </a:prstGeom>
          <a:solidFill>
            <a:srgbClr val="FF8C42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43100" y="5646420"/>
            <a:ext cx="640080" cy="640080"/>
          </a:xfrm>
          <a:prstGeom prst="ellipse">
            <a:avLst/>
          </a:prstGeom>
          <a:solidFill>
            <a:srgbClr val="21C2A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5760720"/>
            <a:ext cx="502920" cy="502920"/>
          </a:xfrm>
          <a:prstGeom prst="ellipse">
            <a:avLst/>
          </a:prstGeom>
          <a:solidFill>
            <a:srgbClr val="FFD313">
              <a:alpha val="7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5166360"/>
            <a:ext cx="411480" cy="411480"/>
          </a:xfrm>
          <a:prstGeom prst="ellipse">
            <a:avLst/>
          </a:prstGeom>
          <a:solidFill>
            <a:srgbClr val="63E8F2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5920740"/>
            <a:ext cx="365760" cy="365760"/>
          </a:xfrm>
          <a:prstGeom prst="ellipse">
            <a:avLst/>
          </a:prstGeom>
          <a:solidFill>
            <a:srgbClr val="072AC8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960120"/>
            <a:ext cx="23904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Unternehmen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29534" y="960120"/>
            <a:ext cx="22574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der Plattform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1856232"/>
            <a:ext cx="5196535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1801368"/>
            <a:ext cx="23904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Identität / 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5214" y="2176272"/>
            <a:ext cx="91440" cy="91440"/>
          </a:xfrm>
          <a:prstGeom prst="ellipse">
            <a:avLst/>
          </a:prstGeom>
          <a:solidFill>
            <a:srgbClr val="F43175"/>
          </a:solidFill>
          <a:ln/>
        </p:spPr>
      </p:sp>
      <p:sp>
        <p:nvSpPr>
          <p:cNvPr id="18" name="Text 16"/>
          <p:cNvSpPr/>
          <p:nvPr/>
        </p:nvSpPr>
        <p:spPr>
          <a:xfrm>
            <a:off x="9129534" y="1801368"/>
            <a:ext cx="22574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Agent-Identität + E-Mail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2697480"/>
            <a:ext cx="5196535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2642616"/>
            <a:ext cx="23904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Arbeitsplatz / PC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55214" y="3017520"/>
            <a:ext cx="91440" cy="914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22" name="Text 20"/>
          <p:cNvSpPr/>
          <p:nvPr/>
        </p:nvSpPr>
        <p:spPr>
          <a:xfrm>
            <a:off x="9129534" y="2642616"/>
            <a:ext cx="22574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Isolierte Sandbox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55080" y="3538728"/>
            <a:ext cx="5196535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11112" y="3483864"/>
            <a:ext cx="23904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Onboarding / Org-Chart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55214" y="3858768"/>
            <a:ext cx="91440" cy="91440"/>
          </a:xfrm>
          <a:prstGeom prst="ellipse">
            <a:avLst/>
          </a:prstGeom>
          <a:solidFill>
            <a:srgbClr val="FFD313"/>
          </a:solidFill>
          <a:ln/>
        </p:spPr>
      </p:sp>
      <p:sp>
        <p:nvSpPr>
          <p:cNvPr id="26" name="Text 24"/>
          <p:cNvSpPr/>
          <p:nvPr/>
        </p:nvSpPr>
        <p:spPr>
          <a:xfrm>
            <a:off x="9129534" y="3483864"/>
            <a:ext cx="22574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SOUL.md + Org-Struktur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4379976"/>
            <a:ext cx="5196535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11112" y="4325112"/>
            <a:ext cx="23904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Passwort-Tresor / PAM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855214" y="4700016"/>
            <a:ext cx="91440" cy="91440"/>
          </a:xfrm>
          <a:prstGeom prst="ellipse">
            <a:avLst/>
          </a:prstGeom>
          <a:solidFill>
            <a:srgbClr val="21C2A2"/>
          </a:solidFill>
          <a:ln/>
        </p:spPr>
      </p:sp>
      <p:sp>
        <p:nvSpPr>
          <p:cNvPr id="30" name="Text 28"/>
          <p:cNvSpPr/>
          <p:nvPr/>
        </p:nvSpPr>
        <p:spPr>
          <a:xfrm>
            <a:off x="9129534" y="4325112"/>
            <a:ext cx="22574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Secrets-Broker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55080" y="5221224"/>
            <a:ext cx="5196535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11112" y="5166360"/>
            <a:ext cx="23904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SIEM / EDR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855214" y="5541264"/>
            <a:ext cx="91440" cy="91440"/>
          </a:xfrm>
          <a:prstGeom prst="ellipse">
            <a:avLst/>
          </a:prstGeom>
          <a:solidFill>
            <a:srgbClr val="072AC8"/>
          </a:solidFill>
          <a:ln/>
        </p:spPr>
      </p:sp>
      <p:sp>
        <p:nvSpPr>
          <p:cNvPr id="34" name="Text 32"/>
          <p:cNvSpPr/>
          <p:nvPr/>
        </p:nvSpPr>
        <p:spPr>
          <a:xfrm>
            <a:off x="9129534" y="5166360"/>
            <a:ext cx="22574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Session-Recording + Alerts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ANATOMIE EINES AGENTEN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Was jeder Agent bekommt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Angelegt und konfiguriert an einem Ort — vom Org-Chart bis zur Persönlichkeit.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715768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4317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95351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48840" y="2715768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Identität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48840" y="3200400"/>
            <a:ext cx="3489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E-Mail und ein fester Platz im Org-Chart. Der Agent ist adressierbar wie ein Kollege.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78728" y="233172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44488" y="2715768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8C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232" y="295351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87488" y="2715768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Arbeitsplatz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787488" y="3200400"/>
            <a:ext cx="3489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Isolierte Sandbox mit persistentem Home — der „PC des Mitarbeiters“, überlebt jede Session.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48056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05840" y="4864608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21C2A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5102352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48840" y="4864608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Zugänge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2148840" y="5349240"/>
            <a:ext cx="3489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Ticketsystem, Confluence, Teams — sauber gebrokert, kurzlebig, nie fest eingebaut.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78728" y="4480560"/>
            <a:ext cx="527288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44488" y="4864608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072AC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232" y="5102352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87488" y="4864608"/>
            <a:ext cx="344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Persönlichkeit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7787488" y="5349240"/>
            <a:ext cx="3489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SOUL.md und weitere MD-Dateien, versioniert in Git. Verhalten per PR statt per Deploy.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72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ES SICH ECHT ANFÜHLT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Immer erreichbar. </a:t>
            </a:r>
            <a:pPr indent="0" marL="0">
              <a:buNone/>
            </a:pPr>
            <a:r>
              <a:rPr lang="en-US" sz="3400" b="1" dirty="0">
                <a:solidFill>
                  <a:srgbClr val="072AC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Compute nur bei Bedarf.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„Always-on“ ist eine UX-Eigenschaft, keine Runtime-Eigenschaft: stateful und ansprechbar wie ein Mensch — aber teure Inferenz läuft nur, wenn wirklich etwas anliegt.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487854" cy="306324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97480"/>
            <a:ext cx="2487854" cy="146304"/>
          </a:xfrm>
          <a:prstGeom prst="roundRect">
            <a:avLst>
              <a:gd name="adj" fmla="val 31250"/>
            </a:avLst>
          </a:prstGeom>
          <a:solidFill>
            <a:srgbClr val="F43175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3108960"/>
            <a:ext cx="256032" cy="256032"/>
          </a:xfrm>
          <a:prstGeom prst="ellipse">
            <a:avLst/>
          </a:prstGeom>
          <a:solidFill>
            <a:srgbClr val="F43175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520440"/>
            <a:ext cx="19026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Backlog wie ein Mensch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688" y="4297680"/>
            <a:ext cx="19392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 priorisiert, inspizierbar, mit Herkunft und Historie — ein First-Class-Objekt.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47974" y="2697480"/>
            <a:ext cx="2487854" cy="306324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974" y="2697480"/>
            <a:ext cx="2487854" cy="146304"/>
          </a:xfrm>
          <a:prstGeom prst="roundRect">
            <a:avLst>
              <a:gd name="adj" fmla="val 31250"/>
            </a:avLst>
          </a:prstGeom>
          <a:solidFill>
            <a:srgbClr val="FF8C42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0582" y="3108960"/>
            <a:ext cx="256032" cy="25603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/>
          <p:nvPr/>
        </p:nvSpPr>
        <p:spPr>
          <a:xfrm>
            <a:off x="3740582" y="3520440"/>
            <a:ext cx="19026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Wecken statt Pollen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740582" y="4297680"/>
            <a:ext cx="19392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Getriggert durch Events, Zeitpläne oder ein regelmäßiges „was liegt an?“.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5868" y="2697480"/>
            <a:ext cx="2487854" cy="306324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5868" y="2697480"/>
            <a:ext cx="2487854" cy="146304"/>
          </a:xfrm>
          <a:prstGeom prst="roundRect">
            <a:avLst>
              <a:gd name="adj" fmla="val 31250"/>
            </a:avLst>
          </a:prstGeom>
          <a:solidFill>
            <a:srgbClr val="21C2A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48476" y="3108960"/>
            <a:ext cx="256032" cy="256032"/>
          </a:xfrm>
          <a:prstGeom prst="ellipse">
            <a:avLst/>
          </a:prstGeom>
          <a:solidFill>
            <a:srgbClr val="21C2A2"/>
          </a:solidFill>
          <a:ln/>
        </p:spPr>
      </p:sp>
      <p:sp>
        <p:nvSpPr>
          <p:cNvPr id="20" name="Text 18"/>
          <p:cNvSpPr/>
          <p:nvPr/>
        </p:nvSpPr>
        <p:spPr>
          <a:xfrm>
            <a:off x="6548476" y="3520440"/>
            <a:ext cx="19026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Echtes Blocken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48476" y="4297680"/>
            <a:ext cx="19392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„Warte auf Kundenantwort“ — der Agent schläft, bis die Antwort reinkommt. Kein Halluzinieren.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63761" y="2697480"/>
            <a:ext cx="2487854" cy="3063240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3761" y="2697480"/>
            <a:ext cx="2487854" cy="146304"/>
          </a:xfrm>
          <a:prstGeom prst="roundRect">
            <a:avLst>
              <a:gd name="adj" fmla="val 31250"/>
            </a:avLst>
          </a:prstGeom>
          <a:solidFill>
            <a:srgbClr val="072AC8"/>
          </a:solidFill>
          <a:ln/>
        </p:spPr>
      </p:sp>
      <p:sp>
        <p:nvSpPr>
          <p:cNvPr id="24" name="Shape 22"/>
          <p:cNvSpPr/>
          <p:nvPr/>
        </p:nvSpPr>
        <p:spPr>
          <a:xfrm>
            <a:off x="9356369" y="3108960"/>
            <a:ext cx="256032" cy="256032"/>
          </a:xfrm>
          <a:prstGeom prst="ellipse">
            <a:avLst/>
          </a:prstGeom>
          <a:solidFill>
            <a:srgbClr val="072AC8"/>
          </a:solidFill>
          <a:ln/>
        </p:spPr>
      </p:sp>
      <p:sp>
        <p:nvSpPr>
          <p:cNvPr id="25" name="Text 23"/>
          <p:cNvSpPr/>
          <p:nvPr/>
        </p:nvSpPr>
        <p:spPr>
          <a:xfrm>
            <a:off x="9356369" y="3520440"/>
            <a:ext cx="19026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Gedächtnis über Aufgaben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56369" y="4297680"/>
            <a:ext cx="193921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„Mit dem Kunden hatte ich letzte Woche zu tun, die Lösung war Y.“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72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der Unterschied zwischen einem Agenten und einem Angestellten.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3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LEBENSZYKLUS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Ein Arbeitstag in Zuständen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589989" cy="1965960"/>
          </a:xfrm>
          <a:prstGeom prst="roundRect">
            <a:avLst>
              <a:gd name="adj" fmla="val 5751"/>
            </a:avLst>
          </a:prstGeom>
          <a:solidFill>
            <a:srgbClr val="0A1F31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339" y="2926080"/>
            <a:ext cx="347472" cy="347472"/>
          </a:xfrm>
          <a:prstGeom prst="ellipse">
            <a:avLst/>
          </a:prstGeom>
          <a:solidFill>
            <a:srgbClr val="9AA6B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29000"/>
            <a:ext cx="1589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sleeping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813048"/>
            <a:ext cx="13705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erreichbar, kein Compute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11781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6B0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504389" y="2606040"/>
            <a:ext cx="1589989" cy="1965960"/>
          </a:xfrm>
          <a:prstGeom prst="roundRect">
            <a:avLst>
              <a:gd name="adj" fmla="val 5751"/>
            </a:avLst>
          </a:prstGeom>
          <a:solidFill>
            <a:srgbClr val="0A1F31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5648" y="2926080"/>
            <a:ext cx="347472" cy="347472"/>
          </a:xfrm>
          <a:prstGeom prst="ellipse">
            <a:avLst/>
          </a:prstGeom>
          <a:solidFill>
            <a:srgbClr val="FFD313"/>
          </a:solidFill>
          <a:ln/>
        </p:spPr>
      </p:sp>
      <p:sp>
        <p:nvSpPr>
          <p:cNvPr id="13" name="Text 11"/>
          <p:cNvSpPr/>
          <p:nvPr/>
        </p:nvSpPr>
        <p:spPr>
          <a:xfrm>
            <a:off x="2504389" y="3429000"/>
            <a:ext cx="1589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triggered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14117" y="3813048"/>
            <a:ext cx="13705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· Zeitplan · Tick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76090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6B0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368698" y="2606040"/>
            <a:ext cx="1589989" cy="1965960"/>
          </a:xfrm>
          <a:prstGeom prst="roundRect">
            <a:avLst>
              <a:gd name="adj" fmla="val 5751"/>
            </a:avLst>
          </a:prstGeom>
          <a:solidFill>
            <a:srgbClr val="0A1F31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9957" y="2926080"/>
            <a:ext cx="347472" cy="34747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8" name="Text 16"/>
          <p:cNvSpPr/>
          <p:nvPr/>
        </p:nvSpPr>
        <p:spPr>
          <a:xfrm>
            <a:off x="4368698" y="3429000"/>
            <a:ext cx="1589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triage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78426" y="3813048"/>
            <a:ext cx="13705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+ Gedächtnis prüfen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0400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6B0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233008" y="2606040"/>
            <a:ext cx="1589989" cy="1965960"/>
          </a:xfrm>
          <a:prstGeom prst="roundRect">
            <a:avLst>
              <a:gd name="adj" fmla="val 5751"/>
            </a:avLst>
          </a:prstGeom>
          <a:solidFill>
            <a:srgbClr val="0A1F31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4266" y="2926080"/>
            <a:ext cx="347472" cy="347472"/>
          </a:xfrm>
          <a:prstGeom prst="ellipse">
            <a:avLst/>
          </a:prstGeom>
          <a:solidFill>
            <a:srgbClr val="21C2A2"/>
          </a:solidFill>
          <a:ln/>
        </p:spPr>
      </p:sp>
      <p:sp>
        <p:nvSpPr>
          <p:cNvPr id="23" name="Text 21"/>
          <p:cNvSpPr/>
          <p:nvPr/>
        </p:nvSpPr>
        <p:spPr>
          <a:xfrm>
            <a:off x="6233008" y="3429000"/>
            <a:ext cx="1589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working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2736" y="3813048"/>
            <a:ext cx="13705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in der Sandbox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04709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6B0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097317" y="2606040"/>
            <a:ext cx="1589989" cy="1965960"/>
          </a:xfrm>
          <a:prstGeom prst="roundRect">
            <a:avLst>
              <a:gd name="adj" fmla="val 5751"/>
            </a:avLst>
          </a:prstGeom>
          <a:solidFill>
            <a:srgbClr val="0A1F31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18575" y="2926080"/>
            <a:ext cx="347472" cy="347472"/>
          </a:xfrm>
          <a:prstGeom prst="ellipse">
            <a:avLst/>
          </a:prstGeom>
          <a:solidFill>
            <a:srgbClr val="F43175"/>
          </a:solidFill>
          <a:ln/>
        </p:spPr>
      </p:sp>
      <p:sp>
        <p:nvSpPr>
          <p:cNvPr id="28" name="Text 26"/>
          <p:cNvSpPr/>
          <p:nvPr/>
        </p:nvSpPr>
        <p:spPr>
          <a:xfrm>
            <a:off x="8097317" y="3429000"/>
            <a:ext cx="1589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blocked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07045" y="3813048"/>
            <a:ext cx="13705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wartet ⇄ arbeitet weiter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69018" y="32689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6B0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961626" y="2606040"/>
            <a:ext cx="1589989" cy="1965960"/>
          </a:xfrm>
          <a:prstGeom prst="roundRect">
            <a:avLst>
              <a:gd name="adj" fmla="val 5751"/>
            </a:avLst>
          </a:prstGeom>
          <a:solidFill>
            <a:srgbClr val="0A1F31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82885" y="2926080"/>
            <a:ext cx="347472" cy="347472"/>
          </a:xfrm>
          <a:prstGeom prst="ellipse">
            <a:avLst/>
          </a:prstGeom>
          <a:solidFill>
            <a:srgbClr val="63E8F2"/>
          </a:solidFill>
          <a:ln/>
        </p:spPr>
      </p:sp>
      <p:sp>
        <p:nvSpPr>
          <p:cNvPr id="33" name="Text 31"/>
          <p:cNvSpPr/>
          <p:nvPr/>
        </p:nvSpPr>
        <p:spPr>
          <a:xfrm>
            <a:off x="9961626" y="3429000"/>
            <a:ext cx="1589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done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71354" y="3813048"/>
            <a:ext cx="13705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+ Gedächtnis füttern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10314C"/>
          </a:solidFill>
          <a:ln w="15875">
            <a:solidFill>
              <a:srgbClr val="F431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07492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3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⇄ working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durch das eingehende Event geschlossen, das mit der geparkten Aufgabe korreliert.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3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→ sleeping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schließt den Kreis.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3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DIFFERENZIERTE TEIL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Trust &amp; Control </a:t>
            </a:r>
            <a:pPr indent="0" marL="0">
              <a:buNone/>
            </a:pPr>
            <a:r>
              <a:rPr lang="en-US" sz="34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ist das Produkt.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Sandboxen sind Commodity, Runtimes austauschbar. Was sonst niemand für dich baut: die Control Plane und die Vertrauensschicht, die über Adoption entscheidet.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852928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4317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063240"/>
            <a:ext cx="448056" cy="448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2852928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Session-Recording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103120" y="3310128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LLM- und Tool-Call, jedes Kommando in der Sandbox — lückenlos nachvollziehbar.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78728" y="246888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44488" y="2852928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8C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3063240"/>
            <a:ext cx="448056" cy="4480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41768" y="2852928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Approval-Gates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741768" y="3310128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Riskante Aktionen (Mail raus, Löschen) brauchen Freigabe. Supervisor-Agent flaggt Anomalien.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457200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05840" y="4956048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21C2A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5166360"/>
            <a:ext cx="448056" cy="4480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03120" y="4956048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Kill-Switch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103120" y="5413248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Agent aus dem Ruder? Sofort anhalten — einzeln oder flottenweit.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78728" y="457200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44488" y="4956048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72AC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5166360"/>
            <a:ext cx="448056" cy="4480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41768" y="4956048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Kostenbudget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741768" y="5413248"/>
            <a:ext cx="353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Agent gedeckelt. Idle ist wirklich idle — sonst skaliert die Rechnung weg.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40080" y="6053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3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Logging — EDR/SIEM für Agenten.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1C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VERTEIDIGBAR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Zwei harte Probleme — genau eure Kernkompetenz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227168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51460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072AC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770632"/>
            <a:ext cx="539496" cy="5394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74904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72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IDENTITÄT &amp; SECRETS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40233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Sichere Agent-Identität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7280" y="4544568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Kurzlebige, gescopte Tokens statt langlebiger Secrets. Der Agent präsentiert sein Identitäts-Token, bekommt Zugriff auf Zeit.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97280" y="4965192"/>
            <a:ext cx="4312768" cy="438912"/>
          </a:xfrm>
          <a:prstGeom prst="roundRect">
            <a:avLst>
              <a:gd name="adj" fmla="val 50000"/>
            </a:avLst>
          </a:prstGeom>
          <a:solidFill>
            <a:srgbClr val="072AC8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4965192"/>
            <a:ext cx="394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8693 · Keycloak — das Girona-Setup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24448" y="2057400"/>
            <a:ext cx="5227168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D8CFC6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81648" y="251460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21C2A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80" y="2770632"/>
            <a:ext cx="539496" cy="539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81648" y="374904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1C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GEDÄCHTNIS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781648" y="40233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Knowledge-Graph statt Vektorsuche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6781648" y="4544568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Beziehungen statt platter Ähnlichkeit: Kunde ↔ Ticket ↔ Lösung ↔ Kollege. Macht aus dem Goldfisch einen, der den Laden kennt.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781648" y="4965192"/>
            <a:ext cx="4312768" cy="438912"/>
          </a:xfrm>
          <a:prstGeom prst="roundRect">
            <a:avLst>
              <a:gd name="adj" fmla="val 50000"/>
            </a:avLst>
          </a:prstGeom>
          <a:solidFill>
            <a:srgbClr val="21C2A2">
              <a:alpha val="12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964528" y="4965192"/>
            <a:ext cx="394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Graphiti — schon in der Hand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6382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JETZT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Die Runtimes sind da. Die Schicht drumherum fehlt.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OpenHands, Harness, Claude Code werden täglich besser — aber niemand baut die Orchestrierungs-, Governance- und Identitätsschicht, die sie in einer echten Organisation einsetzbar macht. Das ist die Lücke, und sie ist offen.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52360" y="1234440"/>
            <a:ext cx="40992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52360" y="1234440"/>
            <a:ext cx="146304" cy="1051560"/>
          </a:xfrm>
          <a:prstGeom prst="roundRect">
            <a:avLst>
              <a:gd name="adj" fmla="val 31250"/>
            </a:avLst>
          </a:prstGeom>
          <a:solidFill>
            <a:srgbClr val="21C2A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380744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Runtimes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0" y="1764792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 &amp; austauschbar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2542032"/>
            <a:ext cx="40992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52360" y="2542032"/>
            <a:ext cx="146304" cy="1051560"/>
          </a:xfrm>
          <a:prstGeom prst="roundRect">
            <a:avLst>
              <a:gd name="adj" fmla="val 31250"/>
            </a:avLst>
          </a:prstGeom>
          <a:solidFill>
            <a:srgbClr val="F43175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688336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Orchestrierung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63840" y="3072384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3849624"/>
            <a:ext cx="40992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52360" y="3849624"/>
            <a:ext cx="146304" cy="1051560"/>
          </a:xfrm>
          <a:prstGeom prst="roundRect">
            <a:avLst>
              <a:gd name="adj" fmla="val 31250"/>
            </a:avLst>
          </a:prstGeom>
          <a:solidFill>
            <a:srgbClr val="072AC8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995928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840" y="4379976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2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5157216"/>
            <a:ext cx="40992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E4DCD3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52360" y="5157216"/>
            <a:ext cx="146304" cy="1051560"/>
          </a:xfrm>
          <a:prstGeom prst="roundRect">
            <a:avLst>
              <a:gd name="adj" fmla="val 31250"/>
            </a:avLst>
          </a:prstGeom>
          <a:solidFill>
            <a:srgbClr val="FF8C42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5303520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Identität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63840" y="5687568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3" name="Shape 1"/>
          <p:cNvSpPr/>
          <p:nvPr/>
        </p:nvSpPr>
        <p:spPr>
          <a:xfrm>
            <a:off x="8444484" y="3323844"/>
            <a:ext cx="2496312" cy="2496312"/>
          </a:xfrm>
          <a:prstGeom prst="ellipse">
            <a:avLst/>
          </a:prstGeom>
          <a:solidFill>
            <a:srgbClr val="F43175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323844"/>
            <a:ext cx="1824228" cy="1824228"/>
          </a:xfrm>
          <a:prstGeom prst="ellipse">
            <a:avLst/>
          </a:prstGeom>
          <a:solidFill>
            <a:srgbClr val="FF8C42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24694" y="4620006"/>
            <a:ext cx="1344168" cy="1344168"/>
          </a:xfrm>
          <a:prstGeom prst="ellipse">
            <a:avLst/>
          </a:prstGeom>
          <a:solidFill>
            <a:srgbClr val="21C2A2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36508" y="4860036"/>
            <a:ext cx="1056132" cy="1056132"/>
          </a:xfrm>
          <a:prstGeom prst="ellipse">
            <a:avLst/>
          </a:prstGeom>
          <a:solidFill>
            <a:srgbClr val="FFD313">
              <a:alpha val="7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40496" y="3611880"/>
            <a:ext cx="864108" cy="864108"/>
          </a:xfrm>
          <a:prstGeom prst="ellipse">
            <a:avLst/>
          </a:prstGeom>
          <a:solidFill>
            <a:srgbClr val="63E8F2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44634" y="5196078"/>
            <a:ext cx="768096" cy="768096"/>
          </a:xfrm>
          <a:prstGeom prst="ellipse">
            <a:avLst/>
          </a:prstGeom>
          <a:solidFill>
            <a:srgbClr val="072AC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84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seven</a:t>
            </a:r>
            <a:pPr algn="l" indent="0" marL="0">
              <a:buNone/>
            </a:pPr>
            <a:r>
              <a:rPr lang="en-US" sz="2000" b="1" dirty="0">
                <a:solidFill>
                  <a:srgbClr val="F43175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3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PITCH IN EINEM SATZ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24688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Die IT- und HR-Abteilung
</a:t>
            </a:r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21C2A2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für KI-Agenten.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Identität · Arbeitsplatz · Zugänge · Backlog · Vorgesetzter — und die Kontrolle, ihr zu vertrauen.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C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Schritt: Event-Korrelation festnageln — wie geparkte Aufgaben zuverlässig aufgeweckt werden.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Control Plane — Pitch</dc:title>
  <dc:subject>PptxGenJS Presentation</dc:subject>
  <dc:creator>Benni · Digital Learning</dc:creator>
  <cp:lastModifiedBy>Benni · Digital Learning</cp:lastModifiedBy>
  <cp:revision>1</cp:revision>
  <dcterms:created xsi:type="dcterms:W3CDTF">2026-07-14T19:44:37Z</dcterms:created>
  <dcterms:modified xsi:type="dcterms:W3CDTF">2026-07-14T19:44:37Z</dcterms:modified>
</cp:coreProperties>
</file>