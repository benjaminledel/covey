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covey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280160" y="420624"/>
            <a:ext cx="82296" cy="82296"/>
          </a:xfrm>
          <a:prstGeom prst="ellipse">
            <a:avLst/>
          </a:prstGeom>
          <a:solidFill>
            <a:srgbClr val="CC7A5B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329184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A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PRODUKTÜBERBLICK</a:t>
            </a:r>
            <a:endParaRPr lang="en-US" sz="1000" dirty="0"/>
          </a:p>
        </p:txBody>
      </p:sp>
      <p:pic>
        <p:nvPicPr>
          <p:cNvPr id="5" name="Image 0" descr="/mnt/user-data/outputs/deckshots/r/roster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554480"/>
            <a:ext cx="5577840" cy="3625596"/>
          </a:xfrm>
          <a:prstGeom prst="rect">
            <a:avLst/>
          </a:prstGeom>
          <a:effectLst>
            <a:outerShdw sx="100000" sy="100000" kx="0" ky="0" algn="bl" rotWithShape="0" blurRad="165100" dist="63500" dir="5400000">
              <a:srgbClr val="000000">
                <a:alpha val="18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548640" y="1783080"/>
            <a:ext cx="5760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Die Control-Plane</a:t>
            </a:r>
            <a:endParaRPr lang="en-US" sz="4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für KI-Agenten.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566928" y="3886200"/>
            <a:ext cx="5577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A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Behandelt wie Mitarbeiter — mit Identität, Zugängen und Aufsicht. Self-hosted, für Organisationen.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66928" y="5074920"/>
            <a:ext cx="137160" cy="137160"/>
          </a:xfrm>
          <a:prstGeom prst="ellipse">
            <a:avLst/>
          </a:prstGeom>
          <a:solidFill>
            <a:srgbClr val="9C978B"/>
          </a:solidFill>
          <a:ln/>
        </p:spPr>
      </p:sp>
      <p:sp>
        <p:nvSpPr>
          <p:cNvPr id="9" name="Shape 6"/>
          <p:cNvSpPr/>
          <p:nvPr/>
        </p:nvSpPr>
        <p:spPr>
          <a:xfrm>
            <a:off x="877824" y="5074920"/>
            <a:ext cx="137160" cy="137160"/>
          </a:xfrm>
          <a:prstGeom prst="ellipse">
            <a:avLst/>
          </a:prstGeom>
          <a:solidFill>
            <a:srgbClr val="6A5FC0"/>
          </a:solidFill>
          <a:ln/>
        </p:spPr>
      </p:sp>
      <p:sp>
        <p:nvSpPr>
          <p:cNvPr id="10" name="Shape 7"/>
          <p:cNvSpPr/>
          <p:nvPr/>
        </p:nvSpPr>
        <p:spPr>
          <a:xfrm>
            <a:off x="1188720" y="5074920"/>
            <a:ext cx="137160" cy="137160"/>
          </a:xfrm>
          <a:prstGeom prst="ellipse">
            <a:avLst/>
          </a:prstGeom>
          <a:solidFill>
            <a:srgbClr val="2C6EA8"/>
          </a:solidFill>
          <a:ln/>
        </p:spPr>
      </p:sp>
      <p:sp>
        <p:nvSpPr>
          <p:cNvPr id="11" name="Shape 8"/>
          <p:cNvSpPr/>
          <p:nvPr/>
        </p:nvSpPr>
        <p:spPr>
          <a:xfrm>
            <a:off x="1499616" y="5074920"/>
            <a:ext cx="137160" cy="137160"/>
          </a:xfrm>
          <a:prstGeom prst="ellipse">
            <a:avLst/>
          </a:prstGeom>
          <a:solidFill>
            <a:srgbClr val="B07216"/>
          </a:solidFill>
          <a:ln/>
        </p:spPr>
      </p:sp>
      <p:sp>
        <p:nvSpPr>
          <p:cNvPr id="12" name="Shape 9"/>
          <p:cNvSpPr/>
          <p:nvPr/>
        </p:nvSpPr>
        <p:spPr>
          <a:xfrm>
            <a:off x="1810512" y="5074920"/>
            <a:ext cx="137160" cy="137160"/>
          </a:xfrm>
          <a:prstGeom prst="ellipse">
            <a:avLst/>
          </a:prstGeom>
          <a:solidFill>
            <a:srgbClr val="4E8A2E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covey · Digital Learning GmbH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covey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280160" y="420624"/>
            <a:ext cx="82296" cy="82296"/>
          </a:xfrm>
          <a:prstGeom prst="ellipse">
            <a:avLst/>
          </a:prstGeom>
          <a:solidFill>
            <a:srgbClr val="CC7A5B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329184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607040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C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Agenten vermehren sich schneller als die Kontrolle.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3474720" cy="3200400"/>
          </a:xfrm>
          <a:prstGeom prst="roundRect">
            <a:avLst>
              <a:gd name="adj" fmla="val 3143"/>
            </a:avLst>
          </a:prstGeom>
          <a:solidFill>
            <a:srgbClr val="F6F4EE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B0721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28346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Identität, keine Zugänge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5204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Agenten greifen mit geteilten Keys zu. Niemand weiß, wer worauf zugreifen darf.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97680" y="1828800"/>
            <a:ext cx="3474720" cy="3200400"/>
          </a:xfrm>
          <a:prstGeom prst="roundRect">
            <a:avLst>
              <a:gd name="adj" fmla="val 3143"/>
            </a:avLst>
          </a:prstGeom>
          <a:solidFill>
            <a:srgbClr val="F6F4EE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2148840"/>
            <a:ext cx="457200" cy="457200"/>
          </a:xfrm>
          <a:prstGeom prst="ellipse">
            <a:avLst/>
          </a:prstGeom>
          <a:solidFill>
            <a:srgbClr val="2C6EA8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63440" y="28346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Aufsicht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3440" y="35204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ein Agent tut, versickert in Logs. Kein Stopp-Knopf, keine Freigabe, kein Nachvollzug.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46720" y="1828800"/>
            <a:ext cx="3474720" cy="3200400"/>
          </a:xfrm>
          <a:prstGeom prst="roundRect">
            <a:avLst>
              <a:gd name="adj" fmla="val 3143"/>
            </a:avLst>
          </a:prstGeom>
          <a:solidFill>
            <a:srgbClr val="F6F4EE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0" y="2148840"/>
            <a:ext cx="457200" cy="457200"/>
          </a:xfrm>
          <a:prstGeom prst="ellipse">
            <a:avLst/>
          </a:prstGeom>
          <a:solidFill>
            <a:srgbClr val="6A5FC0"/>
          </a:solidFill>
          <a:ln/>
        </p:spPr>
      </p:sp>
      <p:sp>
        <p:nvSpPr>
          <p:cNvPr id="19" name="Text 17"/>
          <p:cNvSpPr/>
          <p:nvPr/>
        </p:nvSpPr>
        <p:spPr>
          <a:xfrm>
            <a:off x="84124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412480" y="283464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für Einzelne, nicht für Orgs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12480" y="35204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Rollen, Teams, Kostenstellen, Compliance? In Single-User-Werkzeugen Fehlanzeige.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C7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Agenten sind keine Skripte mehr — sie handeln. Das braucht eine Instanz, die sie führt.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covey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280160" y="420624"/>
            <a:ext cx="82296" cy="82296"/>
          </a:xfrm>
          <a:prstGeom prst="ellipse">
            <a:avLst/>
          </a:prstGeom>
          <a:solidFill>
            <a:srgbClr val="CC7A5B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329184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A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ANSATZ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607040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Behandle Agenten wie Mitarbeiter.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66928" y="2240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Organisation ist die Einheit — nicht der einzelne Nutzer.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3474720" cy="1143000"/>
          </a:xfrm>
          <a:prstGeom prst="roundRect">
            <a:avLst>
              <a:gd name="adj" fmla="val 8000"/>
            </a:avLst>
          </a:prstGeom>
          <a:solidFill>
            <a:srgbClr val="223543"/>
          </a:solidFill>
          <a:ln/>
        </p:spPr>
      </p:sp>
      <p:sp>
        <p:nvSpPr>
          <p:cNvPr id="9" name="Shape 7"/>
          <p:cNvSpPr/>
          <p:nvPr/>
        </p:nvSpPr>
        <p:spPr>
          <a:xfrm>
            <a:off x="841248" y="3401568"/>
            <a:ext cx="146304" cy="146304"/>
          </a:xfrm>
          <a:prstGeom prst="ellipse">
            <a:avLst/>
          </a:prstGeom>
          <a:solidFill>
            <a:srgbClr val="2C6EA8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Identität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97280" y="36850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der Agent ist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97680" y="3108960"/>
            <a:ext cx="3474720" cy="1143000"/>
          </a:xfrm>
          <a:prstGeom prst="roundRect">
            <a:avLst>
              <a:gd name="adj" fmla="val 8000"/>
            </a:avLst>
          </a:prstGeom>
          <a:solidFill>
            <a:srgbClr val="223543"/>
          </a:solidFill>
          <a:ln/>
        </p:spPr>
      </p:sp>
      <p:sp>
        <p:nvSpPr>
          <p:cNvPr id="13" name="Shape 11"/>
          <p:cNvSpPr/>
          <p:nvPr/>
        </p:nvSpPr>
        <p:spPr>
          <a:xfrm>
            <a:off x="4590288" y="3401568"/>
            <a:ext cx="146304" cy="146304"/>
          </a:xfrm>
          <a:prstGeom prst="ellipse">
            <a:avLst/>
          </a:prstGeom>
          <a:solidFill>
            <a:srgbClr val="6A5FC0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Arbeitsplatz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46320" y="36850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isolierte Sandbox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046720" y="3108960"/>
            <a:ext cx="3474720" cy="1143000"/>
          </a:xfrm>
          <a:prstGeom prst="roundRect">
            <a:avLst>
              <a:gd name="adj" fmla="val 8000"/>
            </a:avLst>
          </a:prstGeom>
          <a:solidFill>
            <a:srgbClr val="223543"/>
          </a:solidFill>
          <a:ln/>
        </p:spPr>
      </p:sp>
      <p:sp>
        <p:nvSpPr>
          <p:cNvPr id="17" name="Shape 15"/>
          <p:cNvSpPr/>
          <p:nvPr/>
        </p:nvSpPr>
        <p:spPr>
          <a:xfrm>
            <a:off x="8339328" y="3401568"/>
            <a:ext cx="146304" cy="146304"/>
          </a:xfrm>
          <a:prstGeom prst="ellipse">
            <a:avLst/>
          </a:prstGeom>
          <a:solidFill>
            <a:srgbClr val="4E8A2E"/>
          </a:solidFill>
          <a:ln/>
        </p:spPr>
      </p:sp>
      <p:sp>
        <p:nvSpPr>
          <p:cNvPr id="18" name="Text 16"/>
          <p:cNvSpPr/>
          <p:nvPr/>
        </p:nvSpPr>
        <p:spPr>
          <a:xfrm>
            <a:off x="8595360" y="3291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Zugänge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95360" y="36850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gebrokert, least-privilege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480560"/>
            <a:ext cx="3474720" cy="1143000"/>
          </a:xfrm>
          <a:prstGeom prst="roundRect">
            <a:avLst>
              <a:gd name="adj" fmla="val 8000"/>
            </a:avLst>
          </a:prstGeom>
          <a:solidFill>
            <a:srgbClr val="223543"/>
          </a:solidFill>
          <a:ln/>
        </p:spPr>
      </p:sp>
      <p:sp>
        <p:nvSpPr>
          <p:cNvPr id="21" name="Shape 19"/>
          <p:cNvSpPr/>
          <p:nvPr/>
        </p:nvSpPr>
        <p:spPr>
          <a:xfrm>
            <a:off x="841248" y="4773168"/>
            <a:ext cx="146304" cy="146304"/>
          </a:xfrm>
          <a:prstGeom prst="ellipse">
            <a:avLst/>
          </a:prstGeom>
          <a:solidFill>
            <a:srgbClr val="B07216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97280" y="50566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Aufgaben als First-Class-Objekt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297680" y="4480560"/>
            <a:ext cx="3474720" cy="1143000"/>
          </a:xfrm>
          <a:prstGeom prst="roundRect">
            <a:avLst>
              <a:gd name="adj" fmla="val 8000"/>
            </a:avLst>
          </a:prstGeom>
          <a:solidFill>
            <a:srgbClr val="223543"/>
          </a:solidFill>
          <a:ln/>
        </p:spPr>
      </p:sp>
      <p:sp>
        <p:nvSpPr>
          <p:cNvPr id="25" name="Shape 23"/>
          <p:cNvSpPr/>
          <p:nvPr/>
        </p:nvSpPr>
        <p:spPr>
          <a:xfrm>
            <a:off x="4590288" y="4773168"/>
            <a:ext cx="146304" cy="146304"/>
          </a:xfrm>
          <a:prstGeom prst="ellipse">
            <a:avLst/>
          </a:prstGeom>
          <a:solidFill>
            <a:srgbClr val="CC7A5B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Vorgesetzter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846320" y="50566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wen er eskaliert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046720" y="4480560"/>
            <a:ext cx="3474720" cy="1143000"/>
          </a:xfrm>
          <a:prstGeom prst="roundRect">
            <a:avLst>
              <a:gd name="adj" fmla="val 8000"/>
            </a:avLst>
          </a:prstGeom>
          <a:solidFill>
            <a:srgbClr val="223543"/>
          </a:solidFill>
          <a:ln/>
        </p:spPr>
      </p:sp>
      <p:sp>
        <p:nvSpPr>
          <p:cNvPr id="29" name="Shape 27"/>
          <p:cNvSpPr/>
          <p:nvPr/>
        </p:nvSpPr>
        <p:spPr>
          <a:xfrm>
            <a:off x="8339328" y="4773168"/>
            <a:ext cx="146304" cy="146304"/>
          </a:xfrm>
          <a:prstGeom prst="ellipse">
            <a:avLst/>
          </a:prstGeom>
          <a:solidFill>
            <a:srgbClr val="9C978B"/>
          </a:solidFill>
          <a:ln/>
        </p:spPr>
      </p:sp>
      <p:sp>
        <p:nvSpPr>
          <p:cNvPr id="30" name="Text 28"/>
          <p:cNvSpPr/>
          <p:nvPr/>
        </p:nvSpPr>
        <p:spPr>
          <a:xfrm>
            <a:off x="8595360" y="4663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Org-Chart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595360" y="50566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sein Platz im Team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covey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280160" y="420624"/>
            <a:ext cx="82296" cy="82296"/>
          </a:xfrm>
          <a:prstGeom prst="ellipse">
            <a:avLst/>
          </a:prstGeom>
          <a:solidFill>
            <a:srgbClr val="CC7A5B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329184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607040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C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Eine Steuerzentrale für die ganze Belegschaft.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Agenten auf einen Blick — Zustand, Aufgabe, Kosten. Von hier wird die Organisation geführt: anlegen, zuweisen, stoppen.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456432"/>
            <a:ext cx="128016" cy="128016"/>
          </a:xfrm>
          <a:prstGeom prst="ellipse">
            <a:avLst/>
          </a:prstGeom>
          <a:solidFill>
            <a:srgbClr val="2C6EA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346704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Steuern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Backlog, Scheduler, Kill-Switch.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4142232"/>
            <a:ext cx="128016" cy="128016"/>
          </a:xfrm>
          <a:prstGeom prst="ellipse">
            <a:avLst/>
          </a:prstGeom>
          <a:solidFill>
            <a:srgbClr val="B0721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032504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Absichern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zentrale Guard-Rails, fail-closed.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828032"/>
            <a:ext cx="128016" cy="128016"/>
          </a:xfrm>
          <a:prstGeom prst="ellipse">
            <a:avLst/>
          </a:prstGeom>
          <a:solidFill>
            <a:srgbClr val="4E8A2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718304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Nachvollziehen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Aufzeichnung, Freigaben, Kosten.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5513832"/>
            <a:ext cx="128016" cy="128016"/>
          </a:xfrm>
          <a:prstGeom prst="ellipse">
            <a:avLst/>
          </a:prstGeom>
          <a:solidFill>
            <a:srgbClr val="6A5FC0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5404104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Erinnern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einsehbarer Wissensgraph, DSGVO.</a:t>
            </a:r>
            <a:endParaRPr lang="en-US" sz="1350" dirty="0"/>
          </a:p>
        </p:txBody>
      </p:sp>
      <p:pic>
        <p:nvPicPr>
          <p:cNvPr id="16" name="Image 0" descr="/mnt/user-data/outputs/deckshots/r/ros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737360"/>
            <a:ext cx="5806440" cy="3774186"/>
          </a:xfrm>
          <a:prstGeom prst="rect">
            <a:avLst/>
          </a:prstGeom>
          <a:effectLst>
            <a:outerShdw sx="100000" sy="100000" kx="0" ky="0" algn="bl" rotWithShape="0" blurRad="165100" dist="63500" dir="5400000">
              <a:srgbClr val="000000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covey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280160" y="420624"/>
            <a:ext cx="82296" cy="82296"/>
          </a:xfrm>
          <a:prstGeom prst="ellipse">
            <a:avLst/>
          </a:prstGeom>
          <a:solidFill>
            <a:srgbClr val="CC7A5B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329184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607040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C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Immer bereit — Rechenzeit nur bei Bedarf.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1874520" cy="475488"/>
          </a:xfrm>
          <a:prstGeom prst="roundRect">
            <a:avLst>
              <a:gd name="adj" fmla="val 50000"/>
            </a:avLst>
          </a:prstGeom>
          <a:solidFill>
            <a:srgbClr val="ECEAE2"/>
          </a:solidFill>
          <a:ln/>
        </p:spPr>
      </p:sp>
      <p:sp>
        <p:nvSpPr>
          <p:cNvPr id="8" name="Shape 6"/>
          <p:cNvSpPr/>
          <p:nvPr/>
        </p:nvSpPr>
        <p:spPr>
          <a:xfrm>
            <a:off x="795528" y="2148840"/>
            <a:ext cx="109728" cy="109728"/>
          </a:xfrm>
          <a:prstGeom prst="ellipse">
            <a:avLst/>
          </a:prstGeom>
          <a:solidFill>
            <a:srgbClr val="9C978B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96596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C97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sleeping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203704" y="1965960"/>
            <a:ext cx="310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843784" y="1965960"/>
            <a:ext cx="1874520" cy="475488"/>
          </a:xfrm>
          <a:prstGeom prst="roundRect">
            <a:avLst>
              <a:gd name="adj" fmla="val 50000"/>
            </a:avLst>
          </a:prstGeom>
          <a:solidFill>
            <a:srgbClr val="ECEAFB"/>
          </a:solidFill>
          <a:ln/>
        </p:spPr>
      </p:sp>
      <p:sp>
        <p:nvSpPr>
          <p:cNvPr id="12" name="Shape 10"/>
          <p:cNvSpPr/>
          <p:nvPr/>
        </p:nvSpPr>
        <p:spPr>
          <a:xfrm>
            <a:off x="2999232" y="2148840"/>
            <a:ext cx="109728" cy="109728"/>
          </a:xfrm>
          <a:prstGeom prst="ellipse">
            <a:avLst/>
          </a:prstGeom>
          <a:solidFill>
            <a:srgbClr val="6A5FC0"/>
          </a:solidFill>
          <a:ln/>
        </p:spPr>
      </p:sp>
      <p:sp>
        <p:nvSpPr>
          <p:cNvPr id="13" name="Text 11"/>
          <p:cNvSpPr/>
          <p:nvPr/>
        </p:nvSpPr>
        <p:spPr>
          <a:xfrm>
            <a:off x="3163824" y="196596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A5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407408" y="1965960"/>
            <a:ext cx="310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047488" y="1965960"/>
            <a:ext cx="1874520" cy="475488"/>
          </a:xfrm>
          <a:prstGeom prst="roundRect">
            <a:avLst>
              <a:gd name="adj" fmla="val 50000"/>
            </a:avLst>
          </a:prstGeom>
          <a:solidFill>
            <a:srgbClr val="E6F0FA"/>
          </a:solidFill>
          <a:ln/>
        </p:spPr>
      </p:sp>
      <p:sp>
        <p:nvSpPr>
          <p:cNvPr id="16" name="Shape 14"/>
          <p:cNvSpPr/>
          <p:nvPr/>
        </p:nvSpPr>
        <p:spPr>
          <a:xfrm>
            <a:off x="5202936" y="2148840"/>
            <a:ext cx="109728" cy="109728"/>
          </a:xfrm>
          <a:prstGeom prst="ellipse">
            <a:avLst/>
          </a:prstGeom>
          <a:solidFill>
            <a:srgbClr val="2C6EA8"/>
          </a:solidFill>
          <a:ln/>
        </p:spPr>
      </p:sp>
      <p:sp>
        <p:nvSpPr>
          <p:cNvPr id="17" name="Text 15"/>
          <p:cNvSpPr/>
          <p:nvPr/>
        </p:nvSpPr>
        <p:spPr>
          <a:xfrm>
            <a:off x="5367528" y="196596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611112" y="1965960"/>
            <a:ext cx="310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251192" y="1965960"/>
            <a:ext cx="1874520" cy="475488"/>
          </a:xfrm>
          <a:prstGeom prst="roundRect">
            <a:avLst>
              <a:gd name="adj" fmla="val 50000"/>
            </a:avLst>
          </a:prstGeom>
          <a:solidFill>
            <a:srgbClr val="F7ECD6"/>
          </a:solidFill>
          <a:ln/>
        </p:spPr>
      </p:sp>
      <p:sp>
        <p:nvSpPr>
          <p:cNvPr id="20" name="Shape 18"/>
          <p:cNvSpPr/>
          <p:nvPr/>
        </p:nvSpPr>
        <p:spPr>
          <a:xfrm>
            <a:off x="7406640" y="2148840"/>
            <a:ext cx="109728" cy="109728"/>
          </a:xfrm>
          <a:prstGeom prst="ellipse">
            <a:avLst/>
          </a:prstGeom>
          <a:solidFill>
            <a:srgbClr val="B07216"/>
          </a:solidFill>
          <a:ln/>
        </p:spPr>
      </p:sp>
      <p:sp>
        <p:nvSpPr>
          <p:cNvPr id="21" name="Text 19"/>
          <p:cNvSpPr/>
          <p:nvPr/>
        </p:nvSpPr>
        <p:spPr>
          <a:xfrm>
            <a:off x="7571232" y="196596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72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814816" y="1965960"/>
            <a:ext cx="3108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9454896" y="1965960"/>
            <a:ext cx="1874520" cy="475488"/>
          </a:xfrm>
          <a:prstGeom prst="roundRect">
            <a:avLst>
              <a:gd name="adj" fmla="val 50000"/>
            </a:avLst>
          </a:prstGeom>
          <a:solidFill>
            <a:srgbClr val="E9F2DE"/>
          </a:solidFill>
          <a:ln/>
        </p:spPr>
      </p:sp>
      <p:sp>
        <p:nvSpPr>
          <p:cNvPr id="24" name="Shape 22"/>
          <p:cNvSpPr/>
          <p:nvPr/>
        </p:nvSpPr>
        <p:spPr>
          <a:xfrm>
            <a:off x="9610344" y="2148840"/>
            <a:ext cx="109728" cy="109728"/>
          </a:xfrm>
          <a:prstGeom prst="ellipse">
            <a:avLst/>
          </a:prstGeom>
          <a:solidFill>
            <a:srgbClr val="4E8A2E"/>
          </a:solidFill>
          <a:ln/>
        </p:spPr>
      </p:sp>
      <p:sp>
        <p:nvSpPr>
          <p:cNvPr id="25" name="Text 23"/>
          <p:cNvSpPr/>
          <p:nvPr/>
        </p:nvSpPr>
        <p:spPr>
          <a:xfrm>
            <a:off x="9774936" y="196596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E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0080" y="3108960"/>
            <a:ext cx="6949440" cy="2194560"/>
          </a:xfrm>
          <a:prstGeom prst="roundRect">
            <a:avLst>
              <a:gd name="adj" fmla="val 4583"/>
            </a:avLst>
          </a:prstGeom>
          <a:solidFill>
            <a:srgbClr val="F6F4EE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0120" y="3429000"/>
            <a:ext cx="146304" cy="146304"/>
          </a:xfrm>
          <a:prstGeom prst="ellipse">
            <a:avLst/>
          </a:prstGeom>
          <a:solidFill>
            <a:srgbClr val="B07216"/>
          </a:solidFill>
          <a:ln/>
        </p:spPr>
      </p:sp>
      <p:sp>
        <p:nvSpPr>
          <p:cNvPr id="28" name="Text 26"/>
          <p:cNvSpPr/>
          <p:nvPr/>
        </p:nvSpPr>
        <p:spPr>
          <a:xfrm>
            <a:off x="1188720" y="32918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blocked-Zustand ist die Innovation.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88720" y="374904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Braucht ein Agent eine Rückfrage, parkt er die Aufgabe, fährt die Sandbox herunter — kostet also nichts — und wacht automatisch wieder auf, sobald das korrelierte Ereignis eintrifft (z. B. die Kundenantwort). „Always-on“ ist eine Eigenschaft der Bedienung, nicht der Rechnung.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7818120" y="3108960"/>
            <a:ext cx="3886200" cy="2194560"/>
          </a:xfrm>
          <a:prstGeom prst="roundRect">
            <a:avLst>
              <a:gd name="adj" fmla="val 4583"/>
            </a:avLst>
          </a:prstGeom>
          <a:solidFill>
            <a:srgbClr val="F6F4EE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92440" y="33375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Backlog als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1C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First-Class-Objekt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092440" y="420624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Aufgaben haben Status, Priorität, Herkunft und einen Korrelations-Key — der Scheduler greift sie transaktional, strikt seriell pro Agent.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covey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280160" y="420624"/>
            <a:ext cx="82296" cy="82296"/>
          </a:xfrm>
          <a:prstGeom prst="ellipse">
            <a:avLst/>
          </a:prstGeom>
          <a:solidFill>
            <a:srgbClr val="CC7A5B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329184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 · AUFSICHT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607040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C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Sieh zu, wie dein Agent arbeitet.</a:t>
            </a:r>
            <a:endParaRPr lang="en-US" sz="2900" dirty="0"/>
          </a:p>
        </p:txBody>
      </p:sp>
      <p:pic>
        <p:nvPicPr>
          <p:cNvPr id="7" name="Image 0" descr="/mnt/user-data/outputs/deckshots/r/ac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858000" cy="4457700"/>
          </a:xfrm>
          <a:prstGeom prst="rect">
            <a:avLst/>
          </a:prstGeom>
          <a:effectLst>
            <a:outerShdw sx="100000" sy="100000" kx="0" ky="0" algn="bl" rotWithShape="0" blurRad="165100" dist="63500" dir="5400000">
              <a:srgbClr val="000000">
                <a:alpha val="18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7772400" y="1737360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Vertrauens-Hebel: Man schaut dem Agenten in Echtzeit zu — Wake, Triage, Antwort, Rückfrage.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772400" y="3044952"/>
            <a:ext cx="128016" cy="128016"/>
          </a:xfrm>
          <a:prstGeom prst="ellipse">
            <a:avLst/>
          </a:prstGeom>
          <a:solidFill>
            <a:srgbClr val="2C6EA8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0" y="2935224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Hybrides Transkript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Klartext plus aufklappbare Tool-Details.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772400" y="4032504"/>
            <a:ext cx="128016" cy="128016"/>
          </a:xfrm>
          <a:prstGeom prst="ellipse">
            <a:avLst/>
          </a:prstGeom>
          <a:solidFill>
            <a:srgbClr val="B07216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0" y="3922776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Freigabe-Gates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Riskante Aktionen warten auf einen Menschen.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772400" y="5020056"/>
            <a:ext cx="128016" cy="128016"/>
          </a:xfrm>
          <a:prstGeom prst="ellipse">
            <a:avLst/>
          </a:prstGeom>
          <a:solidFill>
            <a:srgbClr val="4E8A2E"/>
          </a:solidFill>
          <a:ln/>
        </p:spPr>
      </p:sp>
      <p:sp>
        <p:nvSpPr>
          <p:cNvPr id="14" name="Text 11"/>
          <p:cNvSpPr/>
          <p:nvPr/>
        </p:nvSpPr>
        <p:spPr>
          <a:xfrm>
            <a:off x="8046720" y="4910328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Lückenlose Aufzeichnung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Jeder Schritt und jede Kostenposition.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covey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280160" y="420624"/>
            <a:ext cx="82296" cy="82296"/>
          </a:xfrm>
          <a:prstGeom prst="ellipse">
            <a:avLst/>
          </a:prstGeom>
          <a:solidFill>
            <a:srgbClr val="CC7A5B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329184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 · ORGANISATION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607040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C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Menschen und Agenten in einer Organisation.</a:t>
            </a:r>
            <a:endParaRPr lang="en-US" sz="2900" dirty="0"/>
          </a:p>
        </p:txBody>
      </p:sp>
      <p:pic>
        <p:nvPicPr>
          <p:cNvPr id="7" name="Image 0" descr="/mnt/user-data/outputs/deckshots/r/or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858000" cy="4457700"/>
          </a:xfrm>
          <a:prstGeom prst="rect">
            <a:avLst/>
          </a:prstGeom>
          <a:effectLst>
            <a:outerShdw sx="100000" sy="100000" kx="0" ky="0" algn="bl" rotWithShape="0" blurRad="165100" dist="63500" dir="5400000">
              <a:srgbClr val="000000">
                <a:alpha val="18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7772400" y="1737360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Org-Chart ist zugleich Navigation und Verzeichnis — die Belegschaft aus Menschen und Agenten.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772400" y="3044952"/>
            <a:ext cx="128016" cy="128016"/>
          </a:xfrm>
          <a:prstGeom prst="ellipse">
            <a:avLst/>
          </a:prstGeom>
          <a:solidFill>
            <a:srgbClr val="6A5FC0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0" y="2935224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Reporting-Linien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Agenten hängen an einer Führungskraft.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772400" y="4032504"/>
            <a:ext cx="128016" cy="128016"/>
          </a:xfrm>
          <a:prstGeom prst="ellipse">
            <a:avLst/>
          </a:prstGeom>
          <a:solidFill>
            <a:srgbClr val="2C6EA8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0" y="3922776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Kontaktdaten hinterlegt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E-Mail, Teams, Erreichbarkeit pro Person.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772400" y="5020056"/>
            <a:ext cx="128016" cy="128016"/>
          </a:xfrm>
          <a:prstGeom prst="ellipse">
            <a:avLst/>
          </a:prstGeom>
          <a:solidFill>
            <a:srgbClr val="4E8A2E"/>
          </a:solidFill>
          <a:ln/>
        </p:spPr>
      </p:sp>
      <p:sp>
        <p:nvSpPr>
          <p:cNvPr id="14" name="Text 11"/>
          <p:cNvSpPr/>
          <p:nvPr/>
        </p:nvSpPr>
        <p:spPr>
          <a:xfrm>
            <a:off x="8046720" y="4910328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Agenten wissen zu eskalieren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Verzeichnis sagt, wie sie wen erreichen.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covey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280160" y="420624"/>
            <a:ext cx="82296" cy="82296"/>
          </a:xfrm>
          <a:prstGeom prst="ellipse">
            <a:avLst/>
          </a:prstGeom>
          <a:solidFill>
            <a:srgbClr val="CC7A5B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329184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 · VORLAGEN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607040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C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Neue Agenten in Minuten, nicht Tagen.</a:t>
            </a:r>
            <a:endParaRPr lang="en-US" sz="2900" dirty="0"/>
          </a:p>
        </p:txBody>
      </p:sp>
      <p:pic>
        <p:nvPicPr>
          <p:cNvPr id="7" name="Image 0" descr="/mnt/user-data/outputs/deckshots/r/templa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858000" cy="4457700"/>
          </a:xfrm>
          <a:prstGeom prst="rect">
            <a:avLst/>
          </a:prstGeom>
          <a:effectLst>
            <a:outerShdw sx="100000" sy="100000" kx="0" ky="0" algn="bl" rotWithShape="0" blurRad="165100" dist="63500" dir="5400000">
              <a:srgbClr val="000000">
                <a:alpha val="18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7772400" y="1737360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Vorlage bringt alles mit, was ein Agent braucht — Standardisierung und Tempo zugleich.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772400" y="3044952"/>
            <a:ext cx="128016" cy="128016"/>
          </a:xfrm>
          <a:prstGeom prst="ellipse">
            <a:avLst/>
          </a:prstGeom>
          <a:solidFill>
            <a:srgbClr val="2C6EA8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0" y="2935224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statt Blankopapier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SOUL.md, Zugänge, Guard-Rails, Ziel, Budget.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772400" y="4032504"/>
            <a:ext cx="128016" cy="128016"/>
          </a:xfrm>
          <a:prstGeom prst="ellipse">
            <a:avLst/>
          </a:prstGeom>
          <a:solidFill>
            <a:srgbClr val="B07216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0" y="3922776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als Checkliste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Vorlage bereitet vor — prüfen und aktivieren.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772400" y="5020056"/>
            <a:ext cx="128016" cy="128016"/>
          </a:xfrm>
          <a:prstGeom prst="ellipse">
            <a:avLst/>
          </a:prstGeom>
          <a:solidFill>
            <a:srgbClr val="4E8A2E"/>
          </a:solidFill>
          <a:ln/>
        </p:spPr>
      </p:sp>
      <p:sp>
        <p:nvSpPr>
          <p:cNvPr id="14" name="Text 11"/>
          <p:cNvSpPr/>
          <p:nvPr/>
        </p:nvSpPr>
        <p:spPr>
          <a:xfrm>
            <a:off x="8046720" y="4910328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Vorlagen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 jedem Agenten eine Vorlage speichern.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covey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280160" y="420624"/>
            <a:ext cx="82296" cy="82296"/>
          </a:xfrm>
          <a:prstGeom prst="ellipse">
            <a:avLst/>
          </a:prstGeom>
          <a:solidFill>
            <a:srgbClr val="CC7A5B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329184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 · GUARD-RAILS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607040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C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Leitplanken, die die Plattform erzwingt.</a:t>
            </a:r>
            <a:endParaRPr lang="en-US" sz="2900" dirty="0"/>
          </a:p>
        </p:txBody>
      </p:sp>
      <p:pic>
        <p:nvPicPr>
          <p:cNvPr id="7" name="Image 0" descr="/mnt/user-data/outputs/deckshots/r/gu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858000" cy="4457700"/>
          </a:xfrm>
          <a:prstGeom prst="rect">
            <a:avLst/>
          </a:prstGeom>
          <a:effectLst>
            <a:outerShdw sx="100000" sy="100000" kx="0" ky="0" algn="bl" rotWithShape="0" blurRad="165100" dist="63500" dir="5400000">
              <a:srgbClr val="000000">
                <a:alpha val="18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7772400" y="1737360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Freundliche Presets für den Alltag — darunter eine echte Policy-Engine für beliebige Regeln.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772400" y="3044952"/>
            <a:ext cx="128016" cy="128016"/>
          </a:xfrm>
          <a:prstGeom prst="ellipse">
            <a:avLst/>
          </a:prstGeom>
          <a:solidFill>
            <a:srgbClr val="B07216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0" y="2935224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Zentral &amp; fail-closed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Security/Compliance verwaltet.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772400" y="4032504"/>
            <a:ext cx="128016" cy="128016"/>
          </a:xfrm>
          <a:prstGeom prst="ellipse">
            <a:avLst/>
          </a:prstGeom>
          <a:solidFill>
            <a:srgbClr val="2C6EA8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0" y="3922776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Generische Policy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‹Ereignis› WHEN ‹Bedingung› THEN ‹Effekt›.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772400" y="5020056"/>
            <a:ext cx="128016" cy="128016"/>
          </a:xfrm>
          <a:prstGeom prst="ellipse">
            <a:avLst/>
          </a:prstGeom>
          <a:solidFill>
            <a:srgbClr val="6A5FC0"/>
          </a:solidFill>
          <a:ln/>
        </p:spPr>
      </p:sp>
      <p:sp>
        <p:nvSpPr>
          <p:cNvPr id="14" name="Text 11"/>
          <p:cNvSpPr/>
          <p:nvPr/>
        </p:nvSpPr>
        <p:spPr>
          <a:xfrm>
            <a:off x="8046720" y="4910328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Wirksame Effekte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Blockieren · Freigabe · redigieren · pausieren.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covey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280160" y="420624"/>
            <a:ext cx="82296" cy="82296"/>
          </a:xfrm>
          <a:prstGeom prst="ellipse">
            <a:avLst/>
          </a:prstGeom>
          <a:solidFill>
            <a:srgbClr val="CC7A5B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329184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 · GEDÄCHTNIS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607040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C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 Gedächtnis, das man einsehen kann.</a:t>
            </a:r>
            <a:endParaRPr lang="en-US" sz="2900" dirty="0"/>
          </a:p>
        </p:txBody>
      </p:sp>
      <p:pic>
        <p:nvPicPr>
          <p:cNvPr id="7" name="Image 0" descr="/mnt/user-data/outputs/deckshots/r/mem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858000" cy="4457700"/>
          </a:xfrm>
          <a:prstGeom prst="rect">
            <a:avLst/>
          </a:prstGeom>
          <a:effectLst>
            <a:outerShdw sx="100000" sy="100000" kx="0" ky="0" algn="bl" rotWithShape="0" blurRad="165100" dist="63500" dir="5400000">
              <a:srgbClr val="000000">
                <a:alpha val="18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7772400" y="1737360"/>
            <a:ext cx="3977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Blackbox-Speicher: eine kuratierte, durchsuchbare Sicht auf das Gelernte pro Agent.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772400" y="3044952"/>
            <a:ext cx="128016" cy="128016"/>
          </a:xfrm>
          <a:prstGeom prst="ellipse">
            <a:avLst/>
          </a:prstGeom>
          <a:solidFill>
            <a:srgbClr val="6A5FC0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0" y="2935224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Wissensgraph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Temporal: gelernt am, gültig, abgelöst.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772400" y="4032504"/>
            <a:ext cx="128016" cy="128016"/>
          </a:xfrm>
          <a:prstGeom prst="ellipse">
            <a:avLst/>
          </a:prstGeom>
          <a:solidFill>
            <a:srgbClr val="2C6EA8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0" y="3922776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Provenienz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Erinnerung mit Quelle und Aufgabe.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7772400" y="5020056"/>
            <a:ext cx="128016" cy="128016"/>
          </a:xfrm>
          <a:prstGeom prst="ellipse">
            <a:avLst/>
          </a:prstGeom>
          <a:solidFill>
            <a:srgbClr val="4E8A2E"/>
          </a:solidFill>
          <a:ln/>
        </p:spPr>
      </p:sp>
      <p:sp>
        <p:nvSpPr>
          <p:cNvPr id="14" name="Text 11"/>
          <p:cNvSpPr/>
          <p:nvPr/>
        </p:nvSpPr>
        <p:spPr>
          <a:xfrm>
            <a:off x="8046720" y="4910328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DSGVO-fähig  </a:t>
            </a:r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Einsehen, berichtigen, vergessen — mit Audit-Log.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covey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280160" y="420624"/>
            <a:ext cx="82296" cy="82296"/>
          </a:xfrm>
          <a:prstGeom prst="ellipse">
            <a:avLst/>
          </a:prstGeom>
          <a:solidFill>
            <a:srgbClr val="CC7A5B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329184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A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607040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566928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Läuft auf deiner Infrastruktur.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3657600" y="1737360"/>
            <a:ext cx="4846320" cy="1097280"/>
          </a:xfrm>
          <a:prstGeom prst="roundRect">
            <a:avLst>
              <a:gd name="adj" fmla="val 9167"/>
            </a:avLst>
          </a:prstGeom>
          <a:solidFill>
            <a:srgbClr val="223543"/>
          </a:solidFill>
          <a:ln w="15875">
            <a:solidFill>
              <a:srgbClr val="CC7A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17373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Covey</a:t>
            </a:r>
            <a:pPr algn="ctr" indent="0" marL="0">
              <a:buNone/>
            </a:pPr>
            <a:r>
              <a:rPr lang="en-US" sz="1400" dirty="0">
                <a:solidFill>
                  <a:srgbClr val="A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ein Go-Binary + Postgres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C7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Batteries included, but swappable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3657600"/>
            <a:ext cx="2514600" cy="1234440"/>
          </a:xfrm>
          <a:prstGeom prst="roundRect">
            <a:avLst>
              <a:gd name="adj" fmla="val 7407"/>
            </a:avLst>
          </a:prstGeom>
          <a:solidFill>
            <a:srgbClr val="223543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3931920"/>
            <a:ext cx="146304" cy="146304"/>
          </a:xfrm>
          <a:prstGeom prst="ellipse">
            <a:avLst/>
          </a:prstGeom>
          <a:solidFill>
            <a:srgbClr val="2C6EA8"/>
          </a:solidFill>
          <a:ln/>
        </p:spPr>
      </p:sp>
      <p:sp>
        <p:nvSpPr>
          <p:cNvPr id="12" name="Text 10"/>
          <p:cNvSpPr/>
          <p:nvPr/>
        </p:nvSpPr>
        <p:spPr>
          <a:xfrm>
            <a:off x="1280160" y="38221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Identität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051560" y="427024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eingebaut ↔ Keycloak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520440" y="3657600"/>
            <a:ext cx="2514600" cy="1234440"/>
          </a:xfrm>
          <a:prstGeom prst="roundRect">
            <a:avLst>
              <a:gd name="adj" fmla="val 7407"/>
            </a:avLst>
          </a:prstGeom>
          <a:solidFill>
            <a:srgbClr val="223543"/>
          </a:solidFill>
          <a:ln/>
        </p:spPr>
      </p:sp>
      <p:sp>
        <p:nvSpPr>
          <p:cNvPr id="15" name="Shape 13"/>
          <p:cNvSpPr/>
          <p:nvPr/>
        </p:nvSpPr>
        <p:spPr>
          <a:xfrm>
            <a:off x="3794760" y="3931920"/>
            <a:ext cx="146304" cy="146304"/>
          </a:xfrm>
          <a:prstGeom prst="ellipse">
            <a:avLst/>
          </a:prstGeom>
          <a:solidFill>
            <a:srgbClr val="B07216"/>
          </a:solidFill>
          <a:ln/>
        </p:spPr>
      </p:sp>
      <p:sp>
        <p:nvSpPr>
          <p:cNvPr id="16" name="Text 14"/>
          <p:cNvSpPr/>
          <p:nvPr/>
        </p:nvSpPr>
        <p:spPr>
          <a:xfrm>
            <a:off x="4023360" y="38221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794760" y="427024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eingebaut ↔ Vault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3657600"/>
            <a:ext cx="2514600" cy="1234440"/>
          </a:xfrm>
          <a:prstGeom prst="roundRect">
            <a:avLst>
              <a:gd name="adj" fmla="val 7407"/>
            </a:avLst>
          </a:prstGeom>
          <a:solidFill>
            <a:srgbClr val="223543"/>
          </a:solidFill>
          <a:ln/>
        </p:spPr>
      </p:sp>
      <p:sp>
        <p:nvSpPr>
          <p:cNvPr id="19" name="Shape 17"/>
          <p:cNvSpPr/>
          <p:nvPr/>
        </p:nvSpPr>
        <p:spPr>
          <a:xfrm>
            <a:off x="6537960" y="3931920"/>
            <a:ext cx="146304" cy="146304"/>
          </a:xfrm>
          <a:prstGeom prst="ellipse">
            <a:avLst/>
          </a:prstGeom>
          <a:solidFill>
            <a:srgbClr val="6A5FC0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38221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537960" y="427024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eingebaut ↔ Langfuse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06840" y="3657600"/>
            <a:ext cx="2514600" cy="1234440"/>
          </a:xfrm>
          <a:prstGeom prst="roundRect">
            <a:avLst>
              <a:gd name="adj" fmla="val 7407"/>
            </a:avLst>
          </a:prstGeom>
          <a:solidFill>
            <a:srgbClr val="223543"/>
          </a:solidFill>
          <a:ln/>
        </p:spPr>
      </p:sp>
      <p:sp>
        <p:nvSpPr>
          <p:cNvPr id="23" name="Shape 21"/>
          <p:cNvSpPr/>
          <p:nvPr/>
        </p:nvSpPr>
        <p:spPr>
          <a:xfrm>
            <a:off x="9281160" y="3931920"/>
            <a:ext cx="146304" cy="146304"/>
          </a:xfrm>
          <a:prstGeom prst="ellipse">
            <a:avLst/>
          </a:prstGeom>
          <a:solidFill>
            <a:srgbClr val="4E8A2E"/>
          </a:solidFill>
          <a:ln/>
        </p:spPr>
      </p:sp>
      <p:sp>
        <p:nvSpPr>
          <p:cNvPr id="24" name="Text 22"/>
          <p:cNvSpPr/>
          <p:nvPr/>
        </p:nvSpPr>
        <p:spPr>
          <a:xfrm>
            <a:off x="9509760" y="382219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281160" y="4270248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 ↔ E2B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53492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A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Secrets-Broker nach RFC 8693  ·  self-hosted auf Hetzner / Proxmox  ·  deine Daten bleiben bei dir.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covey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280160" y="420624"/>
            <a:ext cx="82296" cy="82296"/>
          </a:xfrm>
          <a:prstGeom prst="ellipse">
            <a:avLst/>
          </a:prstGeom>
          <a:solidFill>
            <a:srgbClr val="CC7A5B"/>
          </a:solidFill>
          <a:ln/>
        </p:spPr>
      </p:sp>
      <p:sp>
        <p:nvSpPr>
          <p:cNvPr id="4" name="Text 2"/>
          <p:cNvSpPr/>
          <p:nvPr/>
        </p:nvSpPr>
        <p:spPr>
          <a:xfrm>
            <a:off x="8503920" y="329184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607040" y="6355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7B3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900" b="1" dirty="0">
                <a:solidFill>
                  <a:srgbClr val="1C1A1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erste Durchstich: Zammad × Claude Code.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2514600" cy="2286000"/>
          </a:xfrm>
          <a:prstGeom prst="roundRect">
            <a:avLst>
              <a:gd name="adj" fmla="val 4400"/>
            </a:avLst>
          </a:prstGeom>
          <a:solidFill>
            <a:srgbClr val="F6F4EE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377440"/>
            <a:ext cx="502920" cy="502920"/>
          </a:xfrm>
          <a:prstGeom prst="ellipse">
            <a:avLst/>
          </a:prstGeom>
          <a:solidFill>
            <a:srgbClr val="2C6EA8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30632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Zammad-Ticket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96112" y="3703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weckt den Agenten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182112" y="2103120"/>
            <a:ext cx="274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C7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429000" y="2103120"/>
            <a:ext cx="2514600" cy="2286000"/>
          </a:xfrm>
          <a:prstGeom prst="roundRect">
            <a:avLst>
              <a:gd name="adj" fmla="val 4400"/>
            </a:avLst>
          </a:prstGeom>
          <a:solidFill>
            <a:srgbClr val="F6F4EE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03320" y="2377440"/>
            <a:ext cx="502920" cy="502920"/>
          </a:xfrm>
          <a:prstGeom prst="ellipse">
            <a:avLst/>
          </a:prstGeom>
          <a:solidFill>
            <a:srgbClr val="6A5FC0"/>
          </a:solidFill>
          <a:ln/>
        </p:spPr>
      </p:sp>
      <p:sp>
        <p:nvSpPr>
          <p:cNvPr id="15" name="Text 13"/>
          <p:cNvSpPr/>
          <p:nvPr/>
        </p:nvSpPr>
        <p:spPr>
          <a:xfrm>
            <a:off x="370332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85032" y="30632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arbeitet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685032" y="3703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Code, gebrokerte Zugänge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971032" y="2103120"/>
            <a:ext cx="274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C7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217920" y="2103120"/>
            <a:ext cx="2514600" cy="2286000"/>
          </a:xfrm>
          <a:prstGeom prst="roundRect">
            <a:avLst>
              <a:gd name="adj" fmla="val 4400"/>
            </a:avLst>
          </a:prstGeom>
          <a:solidFill>
            <a:srgbClr val="F6F4EE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2377440"/>
            <a:ext cx="502920" cy="502920"/>
          </a:xfrm>
          <a:prstGeom prst="ellipse">
            <a:avLst/>
          </a:prstGeom>
          <a:solidFill>
            <a:srgbClr val="4E8A2E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73952" y="30632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Antwort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73952" y="3703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schreibt zurück ins Ticket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759952" y="2103120"/>
            <a:ext cx="274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C7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006840" y="2103120"/>
            <a:ext cx="2514600" cy="2286000"/>
          </a:xfrm>
          <a:prstGeom prst="roundRect">
            <a:avLst>
              <a:gd name="adj" fmla="val 4400"/>
            </a:avLst>
          </a:prstGeom>
          <a:solidFill>
            <a:srgbClr val="F6F4EE"/>
          </a:solidFill>
          <a:ln w="9525">
            <a:solidFill>
              <a:srgbClr val="E3E0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81160" y="2377440"/>
            <a:ext cx="502920" cy="502920"/>
          </a:xfrm>
          <a:prstGeom prst="ellipse">
            <a:avLst/>
          </a:prstGeom>
          <a:solidFill>
            <a:srgbClr val="B07216"/>
          </a:solidFill>
          <a:ln/>
        </p:spPr>
      </p:sp>
      <p:sp>
        <p:nvSpPr>
          <p:cNvPr id="27" name="Text 25"/>
          <p:cNvSpPr/>
          <p:nvPr/>
        </p:nvSpPr>
        <p:spPr>
          <a:xfrm>
            <a:off x="928116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262872" y="30632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1A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Rückfrage → blocked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9262872" y="37033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E6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parkt, wacht bei Antwort auf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0080" y="5029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C7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Reale Systeme an beiden Enden. Korrelation über die Ticket-ID; Coveys blocked bildet sich auf Zammads pending-State ab.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covey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1280160" y="420624"/>
            <a:ext cx="82296" cy="82296"/>
          </a:xfrm>
          <a:prstGeom prst="ellipse">
            <a:avLst/>
          </a:prstGeom>
          <a:solidFill>
            <a:srgbClr val="CC7A5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011680"/>
            <a:ext cx="10972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Von einem Agenten</a:t>
            </a:r>
            <a:endParaRPr lang="en-US" sz="44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zu einer Belegschaft.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66928" y="3886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FBAC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Covey — die Control-Plane für KI-Agenten.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66928" y="4892040"/>
            <a:ext cx="137160" cy="137160"/>
          </a:xfrm>
          <a:prstGeom prst="ellipse">
            <a:avLst/>
          </a:prstGeom>
          <a:solidFill>
            <a:srgbClr val="9C978B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" y="4892040"/>
            <a:ext cx="137160" cy="137160"/>
          </a:xfrm>
          <a:prstGeom prst="ellipse">
            <a:avLst/>
          </a:prstGeom>
          <a:solidFill>
            <a:srgbClr val="6A5FC0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4892040"/>
            <a:ext cx="137160" cy="137160"/>
          </a:xfrm>
          <a:prstGeom prst="ellipse">
            <a:avLst/>
          </a:prstGeom>
          <a:solidFill>
            <a:srgbClr val="2C6EA8"/>
          </a:solidFill>
          <a:ln/>
        </p:spPr>
      </p:sp>
      <p:sp>
        <p:nvSpPr>
          <p:cNvPr id="9" name="Shape 7"/>
          <p:cNvSpPr/>
          <p:nvPr/>
        </p:nvSpPr>
        <p:spPr>
          <a:xfrm>
            <a:off x="1499616" y="4892040"/>
            <a:ext cx="137160" cy="137160"/>
          </a:xfrm>
          <a:prstGeom prst="ellipse">
            <a:avLst/>
          </a:prstGeom>
          <a:solidFill>
            <a:srgbClr val="B07216"/>
          </a:solidFill>
          <a:ln/>
        </p:spPr>
      </p:sp>
      <p:sp>
        <p:nvSpPr>
          <p:cNvPr id="10" name="Shape 8"/>
          <p:cNvSpPr/>
          <p:nvPr/>
        </p:nvSpPr>
        <p:spPr>
          <a:xfrm>
            <a:off x="1810512" y="4892040"/>
            <a:ext cx="137160" cy="137160"/>
          </a:xfrm>
          <a:prstGeom prst="ellipse">
            <a:avLst/>
          </a:prstGeom>
          <a:solidFill>
            <a:srgbClr val="4E8A2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2026-07-15T20:48:32Z</dcterms:created>
  <dcterms:modified xsi:type="dcterms:W3CDTF">2026-07-15T20:48:32Z</dcterms:modified>
</cp:coreProperties>
</file>